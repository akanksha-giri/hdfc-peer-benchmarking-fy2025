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95" d="100"/>
          <a:sy n="95" d="100"/>
        </p:scale>
        <p:origin x="-666" y="-732"/>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C54"/>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A3491A">
              <a:alpha val="18000"/>
            </a:srgbClr>
          </a:solidFill>
          <a:ln w="12700">
            <a:solidFill>
              <a:srgbClr val="A3491A">
                <a:alpha val="30000"/>
              </a:srgbClr>
            </a:solidFill>
            <a:prstDash val="solid"/>
          </a:ln>
        </p:spPr>
      </p:sp>
      <p:sp>
        <p:nvSpPr>
          <p:cNvPr id="3" name="Shape 1"/>
          <p:cNvSpPr/>
          <p:nvPr/>
        </p:nvSpPr>
        <p:spPr>
          <a:xfrm>
            <a:off x="7132320" y="-548640"/>
            <a:ext cx="2926080" cy="2926080"/>
          </a:xfrm>
          <a:prstGeom prst="ellipse">
            <a:avLst/>
          </a:prstGeom>
          <a:solidFill>
            <a:srgbClr val="C17D2C">
              <a:alpha val="12000"/>
            </a:srgbClr>
          </a:solidFill>
          <a:ln w="12700">
            <a:solidFill>
              <a:srgbClr val="C17D2C">
                <a:alpha val="20000"/>
              </a:srgbClr>
            </a:solidFill>
            <a:prstDash val="solid"/>
          </a:ln>
        </p:spPr>
      </p:sp>
      <p:sp>
        <p:nvSpPr>
          <p:cNvPr id="4" name="Shape 2"/>
          <p:cNvSpPr/>
          <p:nvPr/>
        </p:nvSpPr>
        <p:spPr>
          <a:xfrm>
            <a:off x="502920" y="960120"/>
            <a:ext cx="1920240" cy="292608"/>
          </a:xfrm>
          <a:prstGeom prst="roundRect">
            <a:avLst>
              <a:gd name="adj" fmla="val 18750"/>
            </a:avLst>
          </a:prstGeom>
          <a:solidFill>
            <a:srgbClr val="A3491A"/>
          </a:solidFill>
          <a:ln w="12700">
            <a:solidFill>
              <a:srgbClr val="A3491A"/>
            </a:solidFill>
            <a:prstDash val="solid"/>
          </a:ln>
        </p:spPr>
      </p:sp>
      <p:sp>
        <p:nvSpPr>
          <p:cNvPr id="5" name="Text 3"/>
          <p:cNvSpPr/>
          <p:nvPr/>
        </p:nvSpPr>
        <p:spPr>
          <a:xfrm>
            <a:off x="502920" y="960120"/>
            <a:ext cx="1920240" cy="292608"/>
          </a:xfrm>
          <a:prstGeom prst="rect">
            <a:avLst/>
          </a:prstGeom>
          <a:noFill/>
          <a:ln/>
        </p:spPr>
        <p:txBody>
          <a:bodyPr wrap="square" lIns="0" tIns="0" rIns="0" bIns="0" rtlCol="0" anchor="ctr"/>
          <a:lstStyle/>
          <a:p>
            <a:pPr marL="0" indent="0" algn="ctr">
              <a:buNone/>
            </a:pPr>
            <a:r>
              <a:rPr lang="en-US" sz="700" b="1" kern="0" spc="100" dirty="0" smtClean="0">
                <a:solidFill>
                  <a:srgbClr val="FFFFFF"/>
                </a:solidFill>
                <a:latin typeface="Arial" pitchFamily="34" charset="0"/>
                <a:ea typeface="Arial" pitchFamily="34" charset="-122"/>
                <a:cs typeface="Arial" pitchFamily="34" charset="-120"/>
              </a:rPr>
              <a:t>PROJECT </a:t>
            </a:r>
            <a:r>
              <a:rPr lang="en-US" sz="700" b="1" kern="0" spc="100" dirty="0">
                <a:solidFill>
                  <a:srgbClr val="FFFFFF"/>
                </a:solidFill>
                <a:latin typeface="Arial" pitchFamily="34" charset="0"/>
                <a:ea typeface="Arial" pitchFamily="34" charset="-122"/>
                <a:cs typeface="Arial" pitchFamily="34" charset="-120"/>
              </a:rPr>
              <a:t>· </a:t>
            </a:r>
            <a:r>
              <a:rPr lang="en-US" sz="700" b="1" kern="0" spc="100" dirty="0" smtClean="0">
                <a:solidFill>
                  <a:srgbClr val="FFFFFF"/>
                </a:solidFill>
                <a:latin typeface="Arial" pitchFamily="34" charset="0"/>
                <a:ea typeface="Arial" pitchFamily="34" charset="-122"/>
                <a:cs typeface="Arial" pitchFamily="34" charset="-120"/>
              </a:rPr>
              <a:t>FY2026</a:t>
            </a:r>
            <a:endParaRPr lang="en-US" sz="700" dirty="0"/>
          </a:p>
        </p:txBody>
      </p:sp>
      <p:sp>
        <p:nvSpPr>
          <p:cNvPr id="6" name="Text 4"/>
          <p:cNvSpPr/>
          <p:nvPr/>
        </p:nvSpPr>
        <p:spPr>
          <a:xfrm>
            <a:off x="502920" y="1371600"/>
            <a:ext cx="77724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HDFC BANK</a:t>
            </a:r>
            <a:endParaRPr lang="en-US" sz="5200" dirty="0"/>
          </a:p>
        </p:txBody>
      </p:sp>
      <p:sp>
        <p:nvSpPr>
          <p:cNvPr id="7" name="Text 5"/>
          <p:cNvSpPr/>
          <p:nvPr/>
        </p:nvSpPr>
        <p:spPr>
          <a:xfrm>
            <a:off x="502920" y="2212848"/>
            <a:ext cx="7315200" cy="594360"/>
          </a:xfrm>
          <a:prstGeom prst="rect">
            <a:avLst/>
          </a:prstGeom>
          <a:noFill/>
          <a:ln/>
        </p:spPr>
        <p:txBody>
          <a:bodyPr wrap="square" lIns="0" tIns="0" rIns="0" bIns="0" rtlCol="0" anchor="ctr"/>
          <a:lstStyle/>
          <a:p>
            <a:pPr marL="0" indent="0">
              <a:buNone/>
            </a:pPr>
            <a:r>
              <a:rPr lang="en-US" sz="2800" i="1" dirty="0">
                <a:solidFill>
                  <a:srgbClr val="C17D2C"/>
                </a:solidFill>
                <a:latin typeface="Cambria" pitchFamily="34" charset="0"/>
                <a:ea typeface="Cambria" pitchFamily="34" charset="-122"/>
                <a:cs typeface="Cambria" pitchFamily="34" charset="-120"/>
              </a:rPr>
              <a:t>Peer Benchmarking Analysis</a:t>
            </a:r>
            <a:endParaRPr lang="en-US" sz="2800" dirty="0"/>
          </a:p>
        </p:txBody>
      </p:sp>
      <p:sp>
        <p:nvSpPr>
          <p:cNvPr id="8" name="Shape 6"/>
          <p:cNvSpPr/>
          <p:nvPr/>
        </p:nvSpPr>
        <p:spPr>
          <a:xfrm>
            <a:off x="502920" y="2880360"/>
            <a:ext cx="91440" cy="91440"/>
          </a:xfrm>
          <a:prstGeom prst="ellipse">
            <a:avLst/>
          </a:prstGeom>
          <a:solidFill>
            <a:srgbClr val="A3491A"/>
          </a:solidFill>
          <a:ln w="12700">
            <a:solidFill>
              <a:srgbClr val="A3491A"/>
            </a:solidFill>
            <a:prstDash val="solid"/>
          </a:ln>
        </p:spPr>
      </p:sp>
      <p:sp>
        <p:nvSpPr>
          <p:cNvPr id="9" name="Text 7"/>
          <p:cNvSpPr/>
          <p:nvPr/>
        </p:nvSpPr>
        <p:spPr>
          <a:xfrm>
            <a:off x="658368" y="2834640"/>
            <a:ext cx="1463040" cy="201168"/>
          </a:xfrm>
          <a:prstGeom prst="rect">
            <a:avLst/>
          </a:prstGeom>
          <a:noFill/>
          <a:ln/>
        </p:spPr>
        <p:txBody>
          <a:bodyPr wrap="square" lIns="0" tIns="0" rIns="0" bIns="0" rtlCol="0" anchor="ctr"/>
          <a:lstStyle/>
          <a:p>
            <a:pPr marL="0" indent="0">
              <a:buNone/>
            </a:pPr>
            <a:r>
              <a:rPr lang="en-US" sz="1000" dirty="0">
                <a:solidFill>
                  <a:srgbClr val="EDE0CC"/>
                </a:solidFill>
                <a:latin typeface="Arial" pitchFamily="34" charset="0"/>
                <a:ea typeface="Arial" pitchFamily="34" charset="-122"/>
                <a:cs typeface="Arial" pitchFamily="34" charset="-120"/>
              </a:rPr>
              <a:t>vs  ICICI Bank</a:t>
            </a:r>
            <a:endParaRPr lang="en-US" sz="1000" dirty="0"/>
          </a:p>
        </p:txBody>
      </p:sp>
      <p:sp>
        <p:nvSpPr>
          <p:cNvPr id="10" name="Shape 8"/>
          <p:cNvSpPr/>
          <p:nvPr/>
        </p:nvSpPr>
        <p:spPr>
          <a:xfrm>
            <a:off x="2148840" y="2880360"/>
            <a:ext cx="91440" cy="91440"/>
          </a:xfrm>
          <a:prstGeom prst="ellipse">
            <a:avLst/>
          </a:prstGeom>
          <a:solidFill>
            <a:srgbClr val="A3491A"/>
          </a:solidFill>
          <a:ln w="12700">
            <a:solidFill>
              <a:srgbClr val="A3491A"/>
            </a:solidFill>
            <a:prstDash val="solid"/>
          </a:ln>
        </p:spPr>
      </p:sp>
      <p:sp>
        <p:nvSpPr>
          <p:cNvPr id="11" name="Text 9"/>
          <p:cNvSpPr/>
          <p:nvPr/>
        </p:nvSpPr>
        <p:spPr>
          <a:xfrm>
            <a:off x="2304288" y="2834640"/>
            <a:ext cx="1463040" cy="201168"/>
          </a:xfrm>
          <a:prstGeom prst="rect">
            <a:avLst/>
          </a:prstGeom>
          <a:noFill/>
          <a:ln/>
        </p:spPr>
        <p:txBody>
          <a:bodyPr wrap="square" lIns="0" tIns="0" rIns="0" bIns="0" rtlCol="0" anchor="ctr"/>
          <a:lstStyle/>
          <a:p>
            <a:pPr marL="0" indent="0">
              <a:buNone/>
            </a:pPr>
            <a:r>
              <a:rPr lang="en-US" sz="1000" dirty="0">
                <a:solidFill>
                  <a:srgbClr val="EDE0CC"/>
                </a:solidFill>
                <a:latin typeface="Arial" pitchFamily="34" charset="0"/>
                <a:ea typeface="Arial" pitchFamily="34" charset="-122"/>
                <a:cs typeface="Arial" pitchFamily="34" charset="-120"/>
              </a:rPr>
              <a:t>vs  Axis Bank</a:t>
            </a:r>
            <a:endParaRPr lang="en-US" sz="1000" dirty="0"/>
          </a:p>
        </p:txBody>
      </p:sp>
      <p:sp>
        <p:nvSpPr>
          <p:cNvPr id="12" name="Shape 10"/>
          <p:cNvSpPr/>
          <p:nvPr/>
        </p:nvSpPr>
        <p:spPr>
          <a:xfrm>
            <a:off x="3794760" y="2880360"/>
            <a:ext cx="91440" cy="91440"/>
          </a:xfrm>
          <a:prstGeom prst="ellipse">
            <a:avLst/>
          </a:prstGeom>
          <a:solidFill>
            <a:srgbClr val="A3491A"/>
          </a:solidFill>
          <a:ln w="12700">
            <a:solidFill>
              <a:srgbClr val="A3491A"/>
            </a:solidFill>
            <a:prstDash val="solid"/>
          </a:ln>
        </p:spPr>
      </p:sp>
      <p:sp>
        <p:nvSpPr>
          <p:cNvPr id="13" name="Text 11"/>
          <p:cNvSpPr/>
          <p:nvPr/>
        </p:nvSpPr>
        <p:spPr>
          <a:xfrm>
            <a:off x="3950208" y="2834640"/>
            <a:ext cx="1463040" cy="201168"/>
          </a:xfrm>
          <a:prstGeom prst="rect">
            <a:avLst/>
          </a:prstGeom>
          <a:noFill/>
          <a:ln/>
        </p:spPr>
        <p:txBody>
          <a:bodyPr wrap="square" lIns="0" tIns="0" rIns="0" bIns="0" rtlCol="0" anchor="ctr"/>
          <a:lstStyle/>
          <a:p>
            <a:pPr marL="0" indent="0">
              <a:buNone/>
            </a:pPr>
            <a:r>
              <a:rPr lang="en-US" sz="1000" dirty="0">
                <a:solidFill>
                  <a:srgbClr val="EDE0CC"/>
                </a:solidFill>
                <a:latin typeface="Arial" pitchFamily="34" charset="0"/>
                <a:ea typeface="Arial" pitchFamily="34" charset="-122"/>
                <a:cs typeface="Arial" pitchFamily="34" charset="-120"/>
              </a:rPr>
              <a:t>vs  Kotak Mahindra</a:t>
            </a:r>
            <a:endParaRPr lang="en-US" sz="1000" dirty="0"/>
          </a:p>
        </p:txBody>
      </p:sp>
      <p:sp>
        <p:nvSpPr>
          <p:cNvPr id="14" name="Text 12"/>
          <p:cNvSpPr/>
          <p:nvPr/>
        </p:nvSpPr>
        <p:spPr>
          <a:xfrm>
            <a:off x="502920" y="3246120"/>
            <a:ext cx="8229600" cy="274320"/>
          </a:xfrm>
          <a:prstGeom prst="rect">
            <a:avLst/>
          </a:prstGeom>
          <a:noFill/>
          <a:ln/>
        </p:spPr>
        <p:txBody>
          <a:bodyPr wrap="square" lIns="0" tIns="0" rIns="0" bIns="0" rtlCol="0" anchor="ctr"/>
          <a:lstStyle/>
          <a:p>
            <a:pPr marL="0" indent="0">
              <a:buNone/>
            </a:pPr>
            <a:r>
              <a:rPr lang="en-US" sz="1000" b="1" dirty="0">
                <a:solidFill>
                  <a:srgbClr val="EDE0CC"/>
                </a:solidFill>
                <a:latin typeface="Arial" pitchFamily="34" charset="0"/>
                <a:ea typeface="Arial" pitchFamily="34" charset="-122"/>
                <a:cs typeface="Arial" pitchFamily="34" charset="-120"/>
              </a:rPr>
              <a:t>Analyst: </a:t>
            </a:r>
            <a:r>
              <a:rPr lang="en-US" sz="1000" dirty="0">
                <a:solidFill>
                  <a:srgbClr val="FFFFFF"/>
                </a:solidFill>
                <a:latin typeface="Arial" pitchFamily="34" charset="0"/>
                <a:ea typeface="Arial" pitchFamily="34" charset="-122"/>
                <a:cs typeface="Arial" pitchFamily="34" charset="-120"/>
              </a:rPr>
              <a:t>Akanksha Giri</a:t>
            </a:r>
            <a:r>
              <a:rPr lang="en-US" sz="1000" dirty="0">
                <a:solidFill>
                  <a:srgbClr val="7A7A8A"/>
                </a:solidFill>
                <a:latin typeface="Arial" pitchFamily="34" charset="0"/>
                <a:ea typeface="Arial" pitchFamily="34" charset="-122"/>
                <a:cs typeface="Arial" pitchFamily="34" charset="-120"/>
              </a:rPr>
              <a:t>   |   </a:t>
            </a:r>
            <a:r>
              <a:rPr lang="en-US" sz="1000" b="1" dirty="0">
                <a:solidFill>
                  <a:srgbClr val="EDE0CC"/>
                </a:solidFill>
                <a:latin typeface="Arial" pitchFamily="34" charset="0"/>
                <a:ea typeface="Arial" pitchFamily="34" charset="-122"/>
                <a:cs typeface="Arial" pitchFamily="34" charset="-120"/>
              </a:rPr>
              <a:t>Data: </a:t>
            </a:r>
            <a:r>
              <a:rPr lang="en-US" sz="1000" dirty="0">
                <a:solidFill>
                  <a:srgbClr val="FFFFFF"/>
                </a:solidFill>
                <a:latin typeface="Arial" pitchFamily="34" charset="0"/>
                <a:ea typeface="Arial" pitchFamily="34" charset="-122"/>
                <a:cs typeface="Arial" pitchFamily="34" charset="-120"/>
              </a:rPr>
              <a:t>FY2025 Annual Reports</a:t>
            </a:r>
            <a:r>
              <a:rPr lang="en-US" sz="1000" dirty="0">
                <a:solidFill>
                  <a:srgbClr val="7A7A8A"/>
                </a:solidFill>
                <a:latin typeface="Arial" pitchFamily="34" charset="0"/>
                <a:ea typeface="Arial" pitchFamily="34" charset="-122"/>
                <a:cs typeface="Arial" pitchFamily="34" charset="-120"/>
              </a:rPr>
              <a:t>   |   </a:t>
            </a:r>
            <a:r>
              <a:rPr lang="en-US" sz="1000" dirty="0">
                <a:solidFill>
                  <a:srgbClr val="FFFFFF"/>
                </a:solidFill>
                <a:latin typeface="Arial" pitchFamily="34" charset="0"/>
                <a:ea typeface="Arial" pitchFamily="34" charset="-122"/>
                <a:cs typeface="Arial" pitchFamily="34" charset="-120"/>
              </a:rPr>
              <a:t>June 2026</a:t>
            </a:r>
            <a:endParaRPr lang="en-US" sz="1000" dirty="0"/>
          </a:p>
        </p:txBody>
      </p:sp>
      <p:sp>
        <p:nvSpPr>
          <p:cNvPr id="15" name="Shape 13"/>
          <p:cNvSpPr/>
          <p:nvPr/>
        </p:nvSpPr>
        <p:spPr>
          <a:xfrm>
            <a:off x="7132320" y="4160520"/>
            <a:ext cx="1645920" cy="685800"/>
          </a:xfrm>
          <a:prstGeom prst="roundRect">
            <a:avLst>
              <a:gd name="adj" fmla="val 13333"/>
            </a:avLst>
          </a:prstGeom>
          <a:solidFill>
            <a:srgbClr val="A3491A">
              <a:alpha val="80000"/>
            </a:srgbClr>
          </a:solidFill>
          <a:ln w="12700">
            <a:solidFill>
              <a:srgbClr val="A3491A"/>
            </a:solidFill>
            <a:prstDash val="solid"/>
          </a:ln>
        </p:spPr>
      </p:sp>
      <p:sp>
        <p:nvSpPr>
          <p:cNvPr id="16" name="Text 14"/>
          <p:cNvSpPr/>
          <p:nvPr/>
        </p:nvSpPr>
        <p:spPr>
          <a:xfrm>
            <a:off x="7132320" y="4160520"/>
            <a:ext cx="164592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10 KPIs</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analysed</a:t>
            </a:r>
            <a:endParaRPr lang="en-US" sz="1200" dirty="0"/>
          </a:p>
        </p:txBody>
      </p:sp>
      <p:sp>
        <p:nvSpPr>
          <p:cNvPr id="17" name="Text 15"/>
          <p:cNvSpPr/>
          <p:nvPr/>
        </p:nvSpPr>
        <p:spPr>
          <a:xfrm>
            <a:off x="502920" y="4754880"/>
            <a:ext cx="8229600" cy="228600"/>
          </a:xfrm>
          <a:prstGeom prst="rect">
            <a:avLst/>
          </a:prstGeom>
          <a:noFill/>
          <a:ln/>
        </p:spPr>
        <p:txBody>
          <a:bodyPr wrap="square" lIns="0" tIns="0" rIns="0" bIns="0" rtlCol="0" anchor="ctr"/>
          <a:lstStyle/>
          <a:p>
            <a:pPr marL="0" indent="0" algn="l">
              <a:buNone/>
            </a:pPr>
            <a:r>
              <a:rPr lang="en-US" sz="800" dirty="0">
                <a:solidFill>
                  <a:srgbClr val="7A7A8A"/>
                </a:solidFill>
                <a:latin typeface="Arial" pitchFamily="34" charset="0"/>
                <a:ea typeface="Arial" pitchFamily="34" charset="-122"/>
                <a:cs typeface="Arial" pitchFamily="34" charset="-120"/>
              </a:rPr>
              <a:t>Independent analytical exercise  ·  Not investment advice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2C2C54"/>
          </a:solidFill>
          <a:ln w="12700">
            <a:solidFill>
              <a:srgbClr val="2C2C54"/>
            </a:solidFill>
            <a:prstDash val="solid"/>
          </a:ln>
        </p:spPr>
      </p:sp>
      <p:sp>
        <p:nvSpPr>
          <p:cNvPr id="3" name="Text 1"/>
          <p:cNvSpPr/>
          <p:nvPr/>
        </p:nvSpPr>
        <p:spPr>
          <a:xfrm>
            <a:off x="457200" y="0"/>
            <a:ext cx="7315200" cy="9601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EXECUTIVE SUMMARY</a:t>
            </a:r>
            <a:endParaRPr lang="en-US" sz="2200" dirty="0"/>
          </a:p>
        </p:txBody>
      </p:sp>
      <p:sp>
        <p:nvSpPr>
          <p:cNvPr id="4" name="Text 2"/>
          <p:cNvSpPr/>
          <p:nvPr/>
        </p:nvSpPr>
        <p:spPr>
          <a:xfrm>
            <a:off x="6858000" y="0"/>
            <a:ext cx="2011680" cy="960120"/>
          </a:xfrm>
          <a:prstGeom prst="rect">
            <a:avLst/>
          </a:prstGeom>
          <a:noFill/>
          <a:ln/>
        </p:spPr>
        <p:txBody>
          <a:bodyPr wrap="square" lIns="0" tIns="0" rIns="0" bIns="0" rtlCol="0" anchor="ctr"/>
          <a:lstStyle/>
          <a:p>
            <a:pPr marL="0" indent="0" algn="r">
              <a:buNone/>
            </a:pPr>
            <a:r>
              <a:rPr lang="en-US" sz="900" dirty="0">
                <a:solidFill>
                  <a:srgbClr val="EDE0CC"/>
                </a:solidFill>
                <a:latin typeface="Arial" pitchFamily="34" charset="0"/>
                <a:ea typeface="Arial" pitchFamily="34" charset="-122"/>
                <a:cs typeface="Arial" pitchFamily="34" charset="-120"/>
              </a:rPr>
              <a:t>FY2025  |  4 Banks  |  10 KPIs</a:t>
            </a:r>
            <a:endParaRPr lang="en-US" sz="900" dirty="0"/>
          </a:p>
        </p:txBody>
      </p:sp>
      <p:sp>
        <p:nvSpPr>
          <p:cNvPr id="5" name="Text 3"/>
          <p:cNvSpPr/>
          <p:nvPr/>
        </p:nvSpPr>
        <p:spPr>
          <a:xfrm>
            <a:off x="457200" y="1097280"/>
            <a:ext cx="8229600" cy="685800"/>
          </a:xfrm>
          <a:prstGeom prst="rect">
            <a:avLst/>
          </a:prstGeom>
          <a:noFill/>
          <a:ln/>
        </p:spPr>
        <p:txBody>
          <a:bodyPr wrap="square" lIns="0" tIns="0" rIns="0" bIns="0" rtlCol="0" anchor="ctr"/>
          <a:lstStyle/>
          <a:p>
            <a:pPr marL="0" indent="0">
              <a:buNone/>
            </a:pPr>
            <a:r>
              <a:rPr lang="en-US" sz="1100" dirty="0">
                <a:solidFill>
                  <a:srgbClr val="3D3D3D"/>
                </a:solidFill>
                <a:latin typeface="Arial" pitchFamily="34" charset="0"/>
                <a:ea typeface="Arial" pitchFamily="34" charset="-122"/>
                <a:cs typeface="Arial" pitchFamily="34" charset="-120"/>
              </a:rPr>
              <a:t>HDFC Bank is India's largest private sector bank by assets, but scale alone does not guarantee outperformance. This analysis benchmarks HDFC against ICICI Bank, Axis Bank, and Kotak Mahindra across 10 KPIs covering profitability, efficiency, asset quality, funding, and capital strength </a:t>
            </a:r>
            <a:r>
              <a:rPr lang="en-US" sz="1100" dirty="0" smtClean="0">
                <a:solidFill>
                  <a:srgbClr val="3D3D3D"/>
                </a:solidFill>
                <a:latin typeface="Arial" pitchFamily="34" charset="0"/>
                <a:ea typeface="Arial" pitchFamily="34" charset="-122"/>
                <a:cs typeface="Arial" pitchFamily="34" charset="-120"/>
              </a:rPr>
              <a:t>- </a:t>
            </a:r>
            <a:r>
              <a:rPr lang="en-US" sz="1100" dirty="0">
                <a:solidFill>
                  <a:srgbClr val="3D3D3D"/>
                </a:solidFill>
                <a:latin typeface="Arial" pitchFamily="34" charset="0"/>
                <a:ea typeface="Arial" pitchFamily="34" charset="-122"/>
                <a:cs typeface="Arial" pitchFamily="34" charset="-120"/>
              </a:rPr>
              <a:t>to surface where HDFC leads, where it lags, and what needs attention in FY2026.</a:t>
            </a:r>
            <a:endParaRPr lang="en-US" sz="1100" dirty="0"/>
          </a:p>
        </p:txBody>
      </p:sp>
      <p:sp>
        <p:nvSpPr>
          <p:cNvPr id="6" name="Shape 4"/>
          <p:cNvSpPr/>
          <p:nvPr/>
        </p:nvSpPr>
        <p:spPr>
          <a:xfrm>
            <a:off x="457200" y="1920240"/>
            <a:ext cx="1572768" cy="1828800"/>
          </a:xfrm>
          <a:prstGeom prst="roundRect">
            <a:avLst>
              <a:gd name="adj" fmla="val 5233"/>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7" name="Image 0" descr="preencoded.png"/>
          <p:cNvPicPr>
            <a:picLocks noChangeAspect="1"/>
          </p:cNvPicPr>
          <p:nvPr/>
        </p:nvPicPr>
        <p:blipFill>
          <a:blip r:embed="rId3"/>
          <a:stretch>
            <a:fillRect/>
          </a:stretch>
        </p:blipFill>
        <p:spPr>
          <a:xfrm>
            <a:off x="1024128" y="2084832"/>
            <a:ext cx="411480" cy="411480"/>
          </a:xfrm>
          <a:prstGeom prst="rect">
            <a:avLst/>
          </a:prstGeom>
        </p:spPr>
      </p:pic>
      <p:sp>
        <p:nvSpPr>
          <p:cNvPr id="8" name="Text 5"/>
          <p:cNvSpPr/>
          <p:nvPr/>
        </p:nvSpPr>
        <p:spPr>
          <a:xfrm>
            <a:off x="530352" y="2560320"/>
            <a:ext cx="1426464" cy="219456"/>
          </a:xfrm>
          <a:prstGeom prst="rect">
            <a:avLst/>
          </a:prstGeom>
          <a:noFill/>
          <a:ln/>
        </p:spPr>
        <p:txBody>
          <a:bodyPr wrap="square" lIns="0" tIns="0" rIns="0" bIns="0" rtlCol="0" anchor="ctr"/>
          <a:lstStyle/>
          <a:p>
            <a:pPr marL="0" indent="0" algn="ctr">
              <a:buNone/>
            </a:pPr>
            <a:r>
              <a:rPr lang="en-US" sz="800" b="1" kern="0" spc="100" dirty="0">
                <a:solidFill>
                  <a:srgbClr val="A3491A"/>
                </a:solidFill>
                <a:latin typeface="Arial" pitchFamily="34" charset="0"/>
                <a:ea typeface="Arial" pitchFamily="34" charset="-122"/>
                <a:cs typeface="Arial" pitchFamily="34" charset="-120"/>
              </a:rPr>
              <a:t>Profitability</a:t>
            </a:r>
            <a:endParaRPr lang="en-US" sz="800" dirty="0"/>
          </a:p>
        </p:txBody>
      </p:sp>
      <p:sp>
        <p:nvSpPr>
          <p:cNvPr id="9" name="Text 6"/>
          <p:cNvSpPr/>
          <p:nvPr/>
        </p:nvSpPr>
        <p:spPr>
          <a:xfrm>
            <a:off x="530352" y="2798064"/>
            <a:ext cx="1426464" cy="329184"/>
          </a:xfrm>
          <a:prstGeom prst="rect">
            <a:avLst/>
          </a:prstGeom>
          <a:noFill/>
          <a:ln/>
        </p:spPr>
        <p:txBody>
          <a:bodyPr wrap="square" lIns="0" tIns="0" rIns="0" bIns="0" rtlCol="0" anchor="ctr"/>
          <a:lstStyle/>
          <a:p>
            <a:pPr marL="0" indent="0" algn="ctr">
              <a:buNone/>
            </a:pPr>
            <a:r>
              <a:rPr lang="en-US" sz="1000" b="1" dirty="0">
                <a:solidFill>
                  <a:srgbClr val="2C2C54"/>
                </a:solidFill>
                <a:latin typeface="Cambria" pitchFamily="34" charset="0"/>
                <a:ea typeface="Cambria" pitchFamily="34" charset="-122"/>
                <a:cs typeface="Cambria" pitchFamily="34" charset="-120"/>
              </a:rPr>
              <a:t>ICICI leads on returns</a:t>
            </a:r>
            <a:endParaRPr lang="en-US" sz="1000" dirty="0"/>
          </a:p>
        </p:txBody>
      </p:sp>
      <p:sp>
        <p:nvSpPr>
          <p:cNvPr id="10" name="Text 7"/>
          <p:cNvSpPr/>
          <p:nvPr/>
        </p:nvSpPr>
        <p:spPr>
          <a:xfrm>
            <a:off x="548640" y="3145536"/>
            <a:ext cx="1389888" cy="530352"/>
          </a:xfrm>
          <a:prstGeom prst="rect">
            <a:avLst/>
          </a:prstGeom>
          <a:noFill/>
          <a:ln/>
        </p:spPr>
        <p:txBody>
          <a:bodyPr wrap="square" lIns="0" tIns="0" rIns="0" bIns="0" rtlCol="0" anchor="ctr"/>
          <a:lstStyle/>
          <a:p>
            <a:pPr marL="0" indent="0" algn="ctr">
              <a:buNone/>
            </a:pPr>
            <a:r>
              <a:rPr lang="en-US" sz="850" dirty="0">
                <a:solidFill>
                  <a:srgbClr val="3D3D3D"/>
                </a:solidFill>
                <a:latin typeface="Arial" pitchFamily="34" charset="0"/>
                <a:ea typeface="Arial" pitchFamily="34" charset="-122"/>
                <a:cs typeface="Arial" pitchFamily="34" charset="-120"/>
              </a:rPr>
              <a:t>ICICI tops RoA (2.23%) &amp; RoE (16.17%). Kotak leads NIM at 4.96%.</a:t>
            </a:r>
            <a:endParaRPr lang="en-US" sz="850" dirty="0"/>
          </a:p>
        </p:txBody>
      </p:sp>
      <p:sp>
        <p:nvSpPr>
          <p:cNvPr id="11" name="Shape 8"/>
          <p:cNvSpPr/>
          <p:nvPr/>
        </p:nvSpPr>
        <p:spPr>
          <a:xfrm>
            <a:off x="2167128" y="1920240"/>
            <a:ext cx="1572768" cy="1828800"/>
          </a:xfrm>
          <a:prstGeom prst="roundRect">
            <a:avLst>
              <a:gd name="adj" fmla="val 5233"/>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12" name="Image 1" descr="preencoded.png"/>
          <p:cNvPicPr>
            <a:picLocks noChangeAspect="1"/>
          </p:cNvPicPr>
          <p:nvPr/>
        </p:nvPicPr>
        <p:blipFill>
          <a:blip r:embed="rId4"/>
          <a:stretch>
            <a:fillRect/>
          </a:stretch>
        </p:blipFill>
        <p:spPr>
          <a:xfrm>
            <a:off x="2734056" y="2084832"/>
            <a:ext cx="411480" cy="411480"/>
          </a:xfrm>
          <a:prstGeom prst="rect">
            <a:avLst/>
          </a:prstGeom>
        </p:spPr>
      </p:pic>
      <p:sp>
        <p:nvSpPr>
          <p:cNvPr id="13" name="Text 9"/>
          <p:cNvSpPr/>
          <p:nvPr/>
        </p:nvSpPr>
        <p:spPr>
          <a:xfrm>
            <a:off x="2240280" y="2560320"/>
            <a:ext cx="1426464" cy="219456"/>
          </a:xfrm>
          <a:prstGeom prst="rect">
            <a:avLst/>
          </a:prstGeom>
          <a:noFill/>
          <a:ln/>
        </p:spPr>
        <p:txBody>
          <a:bodyPr wrap="square" lIns="0" tIns="0" rIns="0" bIns="0" rtlCol="0" anchor="ctr"/>
          <a:lstStyle/>
          <a:p>
            <a:pPr marL="0" indent="0" algn="ctr">
              <a:buNone/>
            </a:pPr>
            <a:r>
              <a:rPr lang="en-US" sz="800" b="1" kern="0" spc="100" dirty="0">
                <a:solidFill>
                  <a:srgbClr val="A3491A"/>
                </a:solidFill>
                <a:latin typeface="Arial" pitchFamily="34" charset="0"/>
                <a:ea typeface="Arial" pitchFamily="34" charset="-122"/>
                <a:cs typeface="Arial" pitchFamily="34" charset="-120"/>
              </a:rPr>
              <a:t>Efficiency</a:t>
            </a:r>
            <a:endParaRPr lang="en-US" sz="800" dirty="0"/>
          </a:p>
        </p:txBody>
      </p:sp>
      <p:sp>
        <p:nvSpPr>
          <p:cNvPr id="14" name="Text 10"/>
          <p:cNvSpPr/>
          <p:nvPr/>
        </p:nvSpPr>
        <p:spPr>
          <a:xfrm>
            <a:off x="2240280" y="2798064"/>
            <a:ext cx="1426464" cy="329184"/>
          </a:xfrm>
          <a:prstGeom prst="rect">
            <a:avLst/>
          </a:prstGeom>
          <a:noFill/>
          <a:ln/>
        </p:spPr>
        <p:txBody>
          <a:bodyPr wrap="square" lIns="0" tIns="0" rIns="0" bIns="0" rtlCol="0" anchor="ctr"/>
          <a:lstStyle/>
          <a:p>
            <a:pPr marL="0" indent="0" algn="ctr">
              <a:buNone/>
            </a:pPr>
            <a:r>
              <a:rPr lang="en-US" sz="1000" b="1" dirty="0">
                <a:solidFill>
                  <a:srgbClr val="2C2C54"/>
                </a:solidFill>
                <a:latin typeface="Cambria" pitchFamily="34" charset="0"/>
                <a:ea typeface="Cambria" pitchFamily="34" charset="-122"/>
                <a:cs typeface="Cambria" pitchFamily="34" charset="-120"/>
              </a:rPr>
              <a:t>ICICI sets the bar</a:t>
            </a:r>
            <a:endParaRPr lang="en-US" sz="1000" dirty="0"/>
          </a:p>
        </p:txBody>
      </p:sp>
      <p:sp>
        <p:nvSpPr>
          <p:cNvPr id="15" name="Text 11"/>
          <p:cNvSpPr/>
          <p:nvPr/>
        </p:nvSpPr>
        <p:spPr>
          <a:xfrm>
            <a:off x="2258568" y="3145536"/>
            <a:ext cx="1389888" cy="530352"/>
          </a:xfrm>
          <a:prstGeom prst="rect">
            <a:avLst/>
          </a:prstGeom>
          <a:noFill/>
          <a:ln/>
        </p:spPr>
        <p:txBody>
          <a:bodyPr wrap="square" lIns="0" tIns="0" rIns="0" bIns="0" rtlCol="0" anchor="ctr"/>
          <a:lstStyle/>
          <a:p>
            <a:pPr marL="0" indent="0" algn="ctr">
              <a:buNone/>
            </a:pPr>
            <a:r>
              <a:rPr lang="en-US" sz="850" dirty="0">
                <a:solidFill>
                  <a:srgbClr val="3D3D3D"/>
                </a:solidFill>
                <a:latin typeface="Arial" pitchFamily="34" charset="0"/>
                <a:ea typeface="Arial" pitchFamily="34" charset="-122"/>
                <a:cs typeface="Arial" pitchFamily="34" charset="-120"/>
              </a:rPr>
              <a:t>Lowest CIR (38.64%) and cost per branch (Rs 6.07 Cr) in the group.</a:t>
            </a:r>
            <a:endParaRPr lang="en-US" sz="850" dirty="0"/>
          </a:p>
        </p:txBody>
      </p:sp>
      <p:sp>
        <p:nvSpPr>
          <p:cNvPr id="16" name="Shape 12"/>
          <p:cNvSpPr/>
          <p:nvPr/>
        </p:nvSpPr>
        <p:spPr>
          <a:xfrm>
            <a:off x="3877056" y="1920240"/>
            <a:ext cx="1572768" cy="1828800"/>
          </a:xfrm>
          <a:prstGeom prst="roundRect">
            <a:avLst>
              <a:gd name="adj" fmla="val 5233"/>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17" name="Image 2" descr="preencoded.png"/>
          <p:cNvPicPr>
            <a:picLocks noChangeAspect="1"/>
          </p:cNvPicPr>
          <p:nvPr/>
        </p:nvPicPr>
        <p:blipFill>
          <a:blip r:embed="rId5"/>
          <a:stretch>
            <a:fillRect/>
          </a:stretch>
        </p:blipFill>
        <p:spPr>
          <a:xfrm>
            <a:off x="4443984" y="2084832"/>
            <a:ext cx="411480" cy="411480"/>
          </a:xfrm>
          <a:prstGeom prst="rect">
            <a:avLst/>
          </a:prstGeom>
        </p:spPr>
      </p:pic>
      <p:sp>
        <p:nvSpPr>
          <p:cNvPr id="18" name="Text 13"/>
          <p:cNvSpPr/>
          <p:nvPr/>
        </p:nvSpPr>
        <p:spPr>
          <a:xfrm>
            <a:off x="3950208" y="2560320"/>
            <a:ext cx="1426464" cy="219456"/>
          </a:xfrm>
          <a:prstGeom prst="rect">
            <a:avLst/>
          </a:prstGeom>
          <a:noFill/>
          <a:ln/>
        </p:spPr>
        <p:txBody>
          <a:bodyPr wrap="square" lIns="0" tIns="0" rIns="0" bIns="0" rtlCol="0" anchor="ctr"/>
          <a:lstStyle/>
          <a:p>
            <a:pPr marL="0" indent="0" algn="ctr">
              <a:buNone/>
            </a:pPr>
            <a:r>
              <a:rPr lang="en-US" sz="800" b="1" kern="0" spc="100" dirty="0">
                <a:solidFill>
                  <a:srgbClr val="A3491A"/>
                </a:solidFill>
                <a:latin typeface="Arial" pitchFamily="34" charset="0"/>
                <a:ea typeface="Arial" pitchFamily="34" charset="-122"/>
                <a:cs typeface="Arial" pitchFamily="34" charset="-120"/>
              </a:rPr>
              <a:t>Asset Quality</a:t>
            </a:r>
            <a:endParaRPr lang="en-US" sz="800" dirty="0"/>
          </a:p>
        </p:txBody>
      </p:sp>
      <p:sp>
        <p:nvSpPr>
          <p:cNvPr id="19" name="Text 14"/>
          <p:cNvSpPr/>
          <p:nvPr/>
        </p:nvSpPr>
        <p:spPr>
          <a:xfrm>
            <a:off x="3950208" y="2798064"/>
            <a:ext cx="1426464" cy="329184"/>
          </a:xfrm>
          <a:prstGeom prst="rect">
            <a:avLst/>
          </a:prstGeom>
          <a:noFill/>
          <a:ln/>
        </p:spPr>
        <p:txBody>
          <a:bodyPr wrap="square" lIns="0" tIns="0" rIns="0" bIns="0" rtlCol="0" anchor="ctr"/>
          <a:lstStyle/>
          <a:p>
            <a:pPr marL="0" indent="0" algn="ctr">
              <a:buNone/>
            </a:pPr>
            <a:r>
              <a:rPr lang="en-US" sz="1000" b="1" dirty="0">
                <a:solidFill>
                  <a:srgbClr val="2C2C54"/>
                </a:solidFill>
                <a:latin typeface="Cambria" pitchFamily="34" charset="0"/>
                <a:ea typeface="Cambria" pitchFamily="34" charset="-122"/>
                <a:cs typeface="Cambria" pitchFamily="34" charset="-120"/>
              </a:rPr>
              <a:t>Axis has cleanest book</a:t>
            </a:r>
            <a:endParaRPr lang="en-US" sz="1000" dirty="0"/>
          </a:p>
        </p:txBody>
      </p:sp>
      <p:sp>
        <p:nvSpPr>
          <p:cNvPr id="20" name="Text 15"/>
          <p:cNvSpPr/>
          <p:nvPr/>
        </p:nvSpPr>
        <p:spPr>
          <a:xfrm>
            <a:off x="3968496" y="3145536"/>
            <a:ext cx="1389888" cy="530352"/>
          </a:xfrm>
          <a:prstGeom prst="rect">
            <a:avLst/>
          </a:prstGeom>
          <a:noFill/>
          <a:ln/>
        </p:spPr>
        <p:txBody>
          <a:bodyPr wrap="square" lIns="0" tIns="0" rIns="0" bIns="0" rtlCol="0" anchor="ctr"/>
          <a:lstStyle/>
          <a:p>
            <a:pPr marL="0" indent="0" algn="ctr">
              <a:buNone/>
            </a:pPr>
            <a:r>
              <a:rPr lang="en-US" sz="850" dirty="0">
                <a:solidFill>
                  <a:srgbClr val="3D3D3D"/>
                </a:solidFill>
                <a:latin typeface="Arial" pitchFamily="34" charset="0"/>
                <a:ea typeface="Arial" pitchFamily="34" charset="-122"/>
                <a:cs typeface="Arial" pitchFamily="34" charset="-120"/>
              </a:rPr>
              <a:t>Axis leads on Gross NPA (1.28%) &amp; Net NPA (0.33%). HDFC close behind.</a:t>
            </a:r>
            <a:endParaRPr lang="en-US" sz="850" dirty="0"/>
          </a:p>
        </p:txBody>
      </p:sp>
      <p:sp>
        <p:nvSpPr>
          <p:cNvPr id="21" name="Shape 16"/>
          <p:cNvSpPr/>
          <p:nvPr/>
        </p:nvSpPr>
        <p:spPr>
          <a:xfrm>
            <a:off x="5586984" y="1920240"/>
            <a:ext cx="1572768" cy="1828800"/>
          </a:xfrm>
          <a:prstGeom prst="roundRect">
            <a:avLst>
              <a:gd name="adj" fmla="val 5233"/>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22" name="Image 3" descr="preencoded.png"/>
          <p:cNvPicPr>
            <a:picLocks noChangeAspect="1"/>
          </p:cNvPicPr>
          <p:nvPr/>
        </p:nvPicPr>
        <p:blipFill>
          <a:blip r:embed="rId6"/>
          <a:stretch>
            <a:fillRect/>
          </a:stretch>
        </p:blipFill>
        <p:spPr>
          <a:xfrm>
            <a:off x="6153912" y="2084832"/>
            <a:ext cx="411480" cy="411480"/>
          </a:xfrm>
          <a:prstGeom prst="rect">
            <a:avLst/>
          </a:prstGeom>
        </p:spPr>
      </p:pic>
      <p:sp>
        <p:nvSpPr>
          <p:cNvPr id="23" name="Text 17"/>
          <p:cNvSpPr/>
          <p:nvPr/>
        </p:nvSpPr>
        <p:spPr>
          <a:xfrm>
            <a:off x="5660136" y="2560320"/>
            <a:ext cx="1426464" cy="219456"/>
          </a:xfrm>
          <a:prstGeom prst="rect">
            <a:avLst/>
          </a:prstGeom>
          <a:noFill/>
          <a:ln/>
        </p:spPr>
        <p:txBody>
          <a:bodyPr wrap="square" lIns="0" tIns="0" rIns="0" bIns="0" rtlCol="0" anchor="ctr"/>
          <a:lstStyle/>
          <a:p>
            <a:pPr marL="0" indent="0" algn="ctr">
              <a:buNone/>
            </a:pPr>
            <a:r>
              <a:rPr lang="en-US" sz="800" b="1" kern="0" spc="100" dirty="0">
                <a:solidFill>
                  <a:srgbClr val="A3491A"/>
                </a:solidFill>
                <a:latin typeface="Arial" pitchFamily="34" charset="0"/>
                <a:ea typeface="Arial" pitchFamily="34" charset="-122"/>
                <a:cs typeface="Arial" pitchFamily="34" charset="-120"/>
              </a:rPr>
              <a:t>Funding</a:t>
            </a:r>
            <a:endParaRPr lang="en-US" sz="800" dirty="0"/>
          </a:p>
        </p:txBody>
      </p:sp>
      <p:sp>
        <p:nvSpPr>
          <p:cNvPr id="24" name="Text 18"/>
          <p:cNvSpPr/>
          <p:nvPr/>
        </p:nvSpPr>
        <p:spPr>
          <a:xfrm>
            <a:off x="5660136" y="2798064"/>
            <a:ext cx="1426464" cy="329184"/>
          </a:xfrm>
          <a:prstGeom prst="rect">
            <a:avLst/>
          </a:prstGeom>
          <a:noFill/>
          <a:ln/>
        </p:spPr>
        <p:txBody>
          <a:bodyPr wrap="square" lIns="0" tIns="0" rIns="0" bIns="0" rtlCol="0" anchor="ctr"/>
          <a:lstStyle/>
          <a:p>
            <a:pPr marL="0" indent="0" algn="ctr">
              <a:buNone/>
            </a:pPr>
            <a:r>
              <a:rPr lang="en-US" sz="1000" b="1" dirty="0">
                <a:solidFill>
                  <a:srgbClr val="2C2C54"/>
                </a:solidFill>
                <a:latin typeface="Cambria" pitchFamily="34" charset="0"/>
                <a:ea typeface="Cambria" pitchFamily="34" charset="-122"/>
                <a:cs typeface="Cambria" pitchFamily="34" charset="-120"/>
              </a:rPr>
              <a:t>Kotak wins CASA</a:t>
            </a:r>
            <a:endParaRPr lang="en-US" sz="1000" dirty="0"/>
          </a:p>
        </p:txBody>
      </p:sp>
      <p:sp>
        <p:nvSpPr>
          <p:cNvPr id="25" name="Text 19"/>
          <p:cNvSpPr/>
          <p:nvPr/>
        </p:nvSpPr>
        <p:spPr>
          <a:xfrm>
            <a:off x="5678424" y="3145536"/>
            <a:ext cx="1389888" cy="530352"/>
          </a:xfrm>
          <a:prstGeom prst="rect">
            <a:avLst/>
          </a:prstGeom>
          <a:noFill/>
          <a:ln/>
        </p:spPr>
        <p:txBody>
          <a:bodyPr wrap="square" lIns="0" tIns="0" rIns="0" bIns="0" rtlCol="0" anchor="ctr"/>
          <a:lstStyle/>
          <a:p>
            <a:pPr marL="0" indent="0" algn="ctr">
              <a:buNone/>
            </a:pPr>
            <a:r>
              <a:rPr lang="en-US" sz="850" dirty="0">
                <a:solidFill>
                  <a:srgbClr val="3D3D3D"/>
                </a:solidFill>
                <a:latin typeface="Arial" pitchFamily="34" charset="0"/>
                <a:ea typeface="Arial" pitchFamily="34" charset="-122"/>
                <a:cs typeface="Arial" pitchFamily="34" charset="-120"/>
              </a:rPr>
              <a:t>Kotak's CASA ratio of 43.34% is highest. HDFC at 34.80% is lowest.</a:t>
            </a:r>
            <a:endParaRPr lang="en-US" sz="850" dirty="0"/>
          </a:p>
        </p:txBody>
      </p:sp>
      <p:sp>
        <p:nvSpPr>
          <p:cNvPr id="26" name="Shape 20"/>
          <p:cNvSpPr/>
          <p:nvPr/>
        </p:nvSpPr>
        <p:spPr>
          <a:xfrm>
            <a:off x="7296912" y="1920240"/>
            <a:ext cx="1572768" cy="1828800"/>
          </a:xfrm>
          <a:prstGeom prst="roundRect">
            <a:avLst>
              <a:gd name="adj" fmla="val 5233"/>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27" name="Image 4" descr="preencoded.png"/>
          <p:cNvPicPr>
            <a:picLocks noChangeAspect="1"/>
          </p:cNvPicPr>
          <p:nvPr/>
        </p:nvPicPr>
        <p:blipFill>
          <a:blip r:embed="rId7"/>
          <a:stretch>
            <a:fillRect/>
          </a:stretch>
        </p:blipFill>
        <p:spPr>
          <a:xfrm>
            <a:off x="7863840" y="2084832"/>
            <a:ext cx="411480" cy="411480"/>
          </a:xfrm>
          <a:prstGeom prst="rect">
            <a:avLst/>
          </a:prstGeom>
        </p:spPr>
      </p:pic>
      <p:sp>
        <p:nvSpPr>
          <p:cNvPr id="28" name="Text 21"/>
          <p:cNvSpPr/>
          <p:nvPr/>
        </p:nvSpPr>
        <p:spPr>
          <a:xfrm>
            <a:off x="7370064" y="2560320"/>
            <a:ext cx="1426464" cy="219456"/>
          </a:xfrm>
          <a:prstGeom prst="rect">
            <a:avLst/>
          </a:prstGeom>
          <a:noFill/>
          <a:ln/>
        </p:spPr>
        <p:txBody>
          <a:bodyPr wrap="square" lIns="0" tIns="0" rIns="0" bIns="0" rtlCol="0" anchor="ctr"/>
          <a:lstStyle/>
          <a:p>
            <a:pPr marL="0" indent="0" algn="ctr">
              <a:buNone/>
            </a:pPr>
            <a:r>
              <a:rPr lang="en-US" sz="800" b="1" kern="0" spc="100" dirty="0">
                <a:solidFill>
                  <a:srgbClr val="A3491A"/>
                </a:solidFill>
                <a:latin typeface="Arial" pitchFamily="34" charset="0"/>
                <a:ea typeface="Arial" pitchFamily="34" charset="-122"/>
                <a:cs typeface="Arial" pitchFamily="34" charset="-120"/>
              </a:rPr>
              <a:t>Capital</a:t>
            </a:r>
            <a:endParaRPr lang="en-US" sz="800" dirty="0"/>
          </a:p>
        </p:txBody>
      </p:sp>
      <p:sp>
        <p:nvSpPr>
          <p:cNvPr id="29" name="Text 22"/>
          <p:cNvSpPr/>
          <p:nvPr/>
        </p:nvSpPr>
        <p:spPr>
          <a:xfrm>
            <a:off x="7370064" y="2798064"/>
            <a:ext cx="1426464" cy="329184"/>
          </a:xfrm>
          <a:prstGeom prst="rect">
            <a:avLst/>
          </a:prstGeom>
          <a:noFill/>
          <a:ln/>
        </p:spPr>
        <p:txBody>
          <a:bodyPr wrap="square" lIns="0" tIns="0" rIns="0" bIns="0" rtlCol="0" anchor="ctr"/>
          <a:lstStyle/>
          <a:p>
            <a:pPr marL="0" indent="0" algn="ctr">
              <a:buNone/>
            </a:pPr>
            <a:r>
              <a:rPr lang="en-US" sz="1000" b="1" dirty="0">
                <a:solidFill>
                  <a:srgbClr val="2C2C54"/>
                </a:solidFill>
                <a:latin typeface="Cambria" pitchFamily="34" charset="0"/>
                <a:ea typeface="Cambria" pitchFamily="34" charset="-122"/>
                <a:cs typeface="Cambria" pitchFamily="34" charset="-120"/>
              </a:rPr>
              <a:t>Kotak most capitalised</a:t>
            </a:r>
            <a:endParaRPr lang="en-US" sz="1000" dirty="0"/>
          </a:p>
        </p:txBody>
      </p:sp>
      <p:sp>
        <p:nvSpPr>
          <p:cNvPr id="30" name="Text 23"/>
          <p:cNvSpPr/>
          <p:nvPr/>
        </p:nvSpPr>
        <p:spPr>
          <a:xfrm>
            <a:off x="7388352" y="3145536"/>
            <a:ext cx="1389888" cy="530352"/>
          </a:xfrm>
          <a:prstGeom prst="rect">
            <a:avLst/>
          </a:prstGeom>
          <a:noFill/>
          <a:ln/>
        </p:spPr>
        <p:txBody>
          <a:bodyPr wrap="square" lIns="0" tIns="0" rIns="0" bIns="0" rtlCol="0" anchor="ctr"/>
          <a:lstStyle/>
          <a:p>
            <a:pPr marL="0" indent="0" algn="ctr">
              <a:buNone/>
            </a:pPr>
            <a:r>
              <a:rPr lang="en-US" sz="850" dirty="0">
                <a:solidFill>
                  <a:srgbClr val="3D3D3D"/>
                </a:solidFill>
                <a:latin typeface="Arial" pitchFamily="34" charset="0"/>
                <a:ea typeface="Arial" pitchFamily="34" charset="-122"/>
                <a:cs typeface="Arial" pitchFamily="34" charset="-120"/>
              </a:rPr>
              <a:t>Tier 1 of 21.10% vs Axis at 15.07% </a:t>
            </a:r>
            <a:r>
              <a:rPr lang="en-US" sz="850" dirty="0" smtClean="0">
                <a:solidFill>
                  <a:srgbClr val="3D3D3D"/>
                </a:solidFill>
                <a:latin typeface="Arial" pitchFamily="34" charset="0"/>
                <a:ea typeface="Arial" pitchFamily="34" charset="-122"/>
                <a:cs typeface="Arial" pitchFamily="34" charset="-120"/>
              </a:rPr>
              <a:t>- </a:t>
            </a:r>
            <a:r>
              <a:rPr lang="en-US" sz="850" dirty="0">
                <a:solidFill>
                  <a:srgbClr val="3D3D3D"/>
                </a:solidFill>
                <a:latin typeface="Arial" pitchFamily="34" charset="0"/>
                <a:ea typeface="Arial" pitchFamily="34" charset="-122"/>
                <a:cs typeface="Arial" pitchFamily="34" charset="-120"/>
              </a:rPr>
              <a:t>widest gap in the peer group.</a:t>
            </a:r>
            <a:endParaRPr lang="en-US" sz="850" dirty="0"/>
          </a:p>
        </p:txBody>
      </p:sp>
      <p:sp>
        <p:nvSpPr>
          <p:cNvPr id="31" name="Text 24"/>
          <p:cNvSpPr/>
          <p:nvPr/>
        </p:nvSpPr>
        <p:spPr>
          <a:xfrm>
            <a:off x="457200" y="4864608"/>
            <a:ext cx="8229600" cy="182880"/>
          </a:xfrm>
          <a:prstGeom prst="rect">
            <a:avLst/>
          </a:prstGeom>
          <a:noFill/>
          <a:ln/>
        </p:spPr>
        <p:txBody>
          <a:bodyPr wrap="square" lIns="0" tIns="0" rIns="0" bIns="0" rtlCol="0" anchor="ctr"/>
          <a:lstStyle/>
          <a:p>
            <a:pPr marL="0" indent="0">
              <a:buNone/>
            </a:pPr>
            <a:r>
              <a:rPr lang="en-US" sz="800" dirty="0">
                <a:solidFill>
                  <a:srgbClr val="7A7A8A"/>
                </a:solidFill>
                <a:latin typeface="Arial" pitchFamily="34" charset="0"/>
                <a:ea typeface="Arial" pitchFamily="34" charset="-122"/>
                <a:cs typeface="Arial" pitchFamily="34" charset="-120"/>
              </a:rPr>
              <a:t>Data: FY2025 Annual Reports  ·  Akanksha Giri</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2C54"/>
          </a:solidFill>
          <a:ln w="12700">
            <a:solidFill>
              <a:srgbClr val="2C2C54"/>
            </a:solidFill>
            <a:prstDash val="solid"/>
          </a:ln>
        </p:spPr>
      </p:sp>
      <p:sp>
        <p:nvSpPr>
          <p:cNvPr id="3" name="Text 1"/>
          <p:cNvSpPr/>
          <p:nvPr/>
        </p:nvSpPr>
        <p:spPr>
          <a:xfrm>
            <a:off x="457200" y="0"/>
            <a:ext cx="6400800" cy="8229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KPI DASHBOARD </a:t>
            </a:r>
            <a:r>
              <a:rPr lang="en-US" sz="2000" b="1" dirty="0" smtClean="0">
                <a:solidFill>
                  <a:srgbClr val="FFFFFF"/>
                </a:solidFill>
                <a:latin typeface="Cambria" pitchFamily="34" charset="0"/>
                <a:ea typeface="Cambria" pitchFamily="34" charset="-122"/>
                <a:cs typeface="Cambria" pitchFamily="34" charset="-120"/>
              </a:rPr>
              <a:t>- </a:t>
            </a:r>
            <a:r>
              <a:rPr lang="en-US" sz="2000" b="1" dirty="0">
                <a:solidFill>
                  <a:srgbClr val="FFFFFF"/>
                </a:solidFill>
                <a:latin typeface="Cambria" pitchFamily="34" charset="0"/>
                <a:ea typeface="Cambria" pitchFamily="34" charset="-122"/>
                <a:cs typeface="Cambria" pitchFamily="34" charset="-120"/>
              </a:rPr>
              <a:t>FY2025</a:t>
            </a:r>
            <a:endParaRPr lang="en-US" sz="2000" dirty="0"/>
          </a:p>
        </p:txBody>
      </p:sp>
      <p:sp>
        <p:nvSpPr>
          <p:cNvPr id="4" name="Text 2"/>
          <p:cNvSpPr/>
          <p:nvPr/>
        </p:nvSpPr>
        <p:spPr>
          <a:xfrm>
            <a:off x="5943600" y="0"/>
            <a:ext cx="2926080" cy="822960"/>
          </a:xfrm>
          <a:prstGeom prst="rect">
            <a:avLst/>
          </a:prstGeom>
          <a:noFill/>
          <a:ln/>
        </p:spPr>
        <p:txBody>
          <a:bodyPr wrap="square" lIns="0" tIns="0" rIns="0" bIns="0" rtlCol="0" anchor="ctr"/>
          <a:lstStyle/>
          <a:p>
            <a:pPr marL="0" indent="0" algn="r">
              <a:buNone/>
            </a:pPr>
            <a:r>
              <a:rPr lang="en-US" sz="900" dirty="0">
                <a:solidFill>
                  <a:srgbClr val="EDE0CC"/>
                </a:solidFill>
                <a:latin typeface="Arial" pitchFamily="34" charset="0"/>
                <a:ea typeface="Arial" pitchFamily="34" charset="-122"/>
                <a:cs typeface="Arial" pitchFamily="34" charset="-120"/>
              </a:rPr>
              <a:t>Green = Best in class   |   Orange = Lagging</a:t>
            </a:r>
            <a:endParaRPr lang="en-US" sz="900" dirty="0"/>
          </a:p>
        </p:txBody>
      </p:sp>
      <p:sp>
        <p:nvSpPr>
          <p:cNvPr id="5" name="Shape 3"/>
          <p:cNvSpPr/>
          <p:nvPr/>
        </p:nvSpPr>
        <p:spPr>
          <a:xfrm>
            <a:off x="347472" y="896112"/>
            <a:ext cx="2606040" cy="347472"/>
          </a:xfrm>
          <a:prstGeom prst="rect">
            <a:avLst/>
          </a:prstGeom>
          <a:solidFill>
            <a:srgbClr val="2C2C54"/>
          </a:solidFill>
          <a:ln w="12700">
            <a:solidFill>
              <a:srgbClr val="FFFFFF"/>
            </a:solidFill>
            <a:prstDash val="solid"/>
          </a:ln>
        </p:spPr>
      </p:sp>
      <p:sp>
        <p:nvSpPr>
          <p:cNvPr id="6" name="Text 4"/>
          <p:cNvSpPr/>
          <p:nvPr/>
        </p:nvSpPr>
        <p:spPr>
          <a:xfrm>
            <a:off x="347472" y="896112"/>
            <a:ext cx="2606040" cy="347472"/>
          </a:xfrm>
          <a:prstGeom prst="rect">
            <a:avLst/>
          </a:prstGeom>
          <a:noFill/>
          <a:ln/>
        </p:spPr>
        <p:txBody>
          <a:bodyPr wrap="square" lIns="0" tIns="101600" rIns="0" bIns="0" rtlCol="0" anchor="ctr"/>
          <a:lstStyle/>
          <a:p>
            <a:pPr marL="0" indent="0">
              <a:buNone/>
            </a:pPr>
            <a:r>
              <a:rPr lang="en-US" sz="950" b="1" dirty="0" smtClean="0">
                <a:solidFill>
                  <a:srgbClr val="FFFFFF"/>
                </a:solidFill>
                <a:latin typeface="Arial" pitchFamily="34" charset="0"/>
                <a:ea typeface="Arial" pitchFamily="34" charset="-122"/>
                <a:cs typeface="Arial" pitchFamily="34" charset="-120"/>
              </a:rPr>
              <a:t> KPI</a:t>
            </a:r>
            <a:endParaRPr lang="en-US" sz="950" dirty="0"/>
          </a:p>
        </p:txBody>
      </p:sp>
      <p:sp>
        <p:nvSpPr>
          <p:cNvPr id="7" name="Shape 5"/>
          <p:cNvSpPr/>
          <p:nvPr/>
        </p:nvSpPr>
        <p:spPr>
          <a:xfrm>
            <a:off x="2953512" y="896112"/>
            <a:ext cx="1325880" cy="347472"/>
          </a:xfrm>
          <a:prstGeom prst="rect">
            <a:avLst/>
          </a:prstGeom>
          <a:solidFill>
            <a:srgbClr val="2C2C54"/>
          </a:solidFill>
          <a:ln w="12700">
            <a:solidFill>
              <a:srgbClr val="FFFFFF"/>
            </a:solidFill>
            <a:prstDash val="solid"/>
          </a:ln>
        </p:spPr>
      </p:sp>
      <p:sp>
        <p:nvSpPr>
          <p:cNvPr id="8" name="Text 6"/>
          <p:cNvSpPr/>
          <p:nvPr/>
        </p:nvSpPr>
        <p:spPr>
          <a:xfrm>
            <a:off x="2953512" y="896112"/>
            <a:ext cx="132588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HDFC Bank</a:t>
            </a:r>
            <a:endParaRPr lang="en-US" sz="950" dirty="0"/>
          </a:p>
        </p:txBody>
      </p:sp>
      <p:sp>
        <p:nvSpPr>
          <p:cNvPr id="9" name="Shape 7"/>
          <p:cNvSpPr/>
          <p:nvPr/>
        </p:nvSpPr>
        <p:spPr>
          <a:xfrm>
            <a:off x="4279392" y="896112"/>
            <a:ext cx="1325880" cy="347472"/>
          </a:xfrm>
          <a:prstGeom prst="rect">
            <a:avLst/>
          </a:prstGeom>
          <a:solidFill>
            <a:srgbClr val="2C2C54"/>
          </a:solidFill>
          <a:ln w="12700">
            <a:solidFill>
              <a:srgbClr val="FFFFFF"/>
            </a:solidFill>
            <a:prstDash val="solid"/>
          </a:ln>
        </p:spPr>
      </p:sp>
      <p:sp>
        <p:nvSpPr>
          <p:cNvPr id="10" name="Text 8"/>
          <p:cNvSpPr/>
          <p:nvPr/>
        </p:nvSpPr>
        <p:spPr>
          <a:xfrm>
            <a:off x="4279392" y="896112"/>
            <a:ext cx="132588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ICICI Bank</a:t>
            </a:r>
            <a:endParaRPr lang="en-US" sz="950" dirty="0"/>
          </a:p>
        </p:txBody>
      </p:sp>
      <p:sp>
        <p:nvSpPr>
          <p:cNvPr id="11" name="Shape 9"/>
          <p:cNvSpPr/>
          <p:nvPr/>
        </p:nvSpPr>
        <p:spPr>
          <a:xfrm>
            <a:off x="5605272" y="896112"/>
            <a:ext cx="1325880" cy="347472"/>
          </a:xfrm>
          <a:prstGeom prst="rect">
            <a:avLst/>
          </a:prstGeom>
          <a:solidFill>
            <a:srgbClr val="2C2C54"/>
          </a:solidFill>
          <a:ln w="12700">
            <a:solidFill>
              <a:srgbClr val="FFFFFF"/>
            </a:solidFill>
            <a:prstDash val="solid"/>
          </a:ln>
        </p:spPr>
      </p:sp>
      <p:sp>
        <p:nvSpPr>
          <p:cNvPr id="12" name="Text 10"/>
          <p:cNvSpPr/>
          <p:nvPr/>
        </p:nvSpPr>
        <p:spPr>
          <a:xfrm>
            <a:off x="5605272" y="896112"/>
            <a:ext cx="132588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Axis Bank</a:t>
            </a:r>
            <a:endParaRPr lang="en-US" sz="950" dirty="0"/>
          </a:p>
        </p:txBody>
      </p:sp>
      <p:sp>
        <p:nvSpPr>
          <p:cNvPr id="13" name="Shape 11"/>
          <p:cNvSpPr/>
          <p:nvPr/>
        </p:nvSpPr>
        <p:spPr>
          <a:xfrm>
            <a:off x="6931152" y="896112"/>
            <a:ext cx="1325880" cy="347472"/>
          </a:xfrm>
          <a:prstGeom prst="rect">
            <a:avLst/>
          </a:prstGeom>
          <a:solidFill>
            <a:srgbClr val="2C2C54"/>
          </a:solidFill>
          <a:ln w="12700">
            <a:solidFill>
              <a:srgbClr val="FFFFFF"/>
            </a:solidFill>
            <a:prstDash val="solid"/>
          </a:ln>
        </p:spPr>
      </p:sp>
      <p:sp>
        <p:nvSpPr>
          <p:cNvPr id="14" name="Text 12"/>
          <p:cNvSpPr/>
          <p:nvPr/>
        </p:nvSpPr>
        <p:spPr>
          <a:xfrm>
            <a:off x="6931152" y="896112"/>
            <a:ext cx="132588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Kotak Mah.</a:t>
            </a:r>
            <a:endParaRPr lang="en-US" sz="950" dirty="0"/>
          </a:p>
        </p:txBody>
      </p:sp>
      <p:sp>
        <p:nvSpPr>
          <p:cNvPr id="15" name="Shape 13"/>
          <p:cNvSpPr/>
          <p:nvPr/>
        </p:nvSpPr>
        <p:spPr>
          <a:xfrm>
            <a:off x="347472" y="1243584"/>
            <a:ext cx="8449056" cy="201168"/>
          </a:xfrm>
          <a:prstGeom prst="rect">
            <a:avLst/>
          </a:prstGeom>
          <a:solidFill>
            <a:srgbClr val="EDE0CC"/>
          </a:solidFill>
          <a:ln w="12700">
            <a:solidFill>
              <a:srgbClr val="EDE0CC"/>
            </a:solidFill>
            <a:prstDash val="solid"/>
          </a:ln>
        </p:spPr>
      </p:sp>
      <p:sp>
        <p:nvSpPr>
          <p:cNvPr id="16" name="Text 14"/>
          <p:cNvSpPr/>
          <p:nvPr/>
        </p:nvSpPr>
        <p:spPr>
          <a:xfrm>
            <a:off x="438912" y="1243584"/>
            <a:ext cx="8229600" cy="201168"/>
          </a:xfrm>
          <a:prstGeom prst="rect">
            <a:avLst/>
          </a:prstGeom>
          <a:noFill/>
          <a:ln/>
        </p:spPr>
        <p:txBody>
          <a:bodyPr wrap="square" lIns="0" tIns="0" rIns="0" bIns="0" rtlCol="0" anchor="ctr"/>
          <a:lstStyle/>
          <a:p>
            <a:pPr marL="0" indent="0">
              <a:buNone/>
            </a:pPr>
            <a:r>
              <a:rPr lang="en-US" sz="750" b="1" dirty="0">
                <a:solidFill>
                  <a:srgbClr val="2C2C54"/>
                </a:solidFill>
                <a:latin typeface="Arial" pitchFamily="34" charset="0"/>
                <a:ea typeface="Arial" pitchFamily="34" charset="-122"/>
                <a:cs typeface="Arial" pitchFamily="34" charset="-120"/>
              </a:rPr>
              <a:t>PROFITABILITY</a:t>
            </a:r>
            <a:endParaRPr lang="en-US" sz="750" dirty="0"/>
          </a:p>
        </p:txBody>
      </p:sp>
      <p:sp>
        <p:nvSpPr>
          <p:cNvPr id="17" name="Shape 15"/>
          <p:cNvSpPr/>
          <p:nvPr/>
        </p:nvSpPr>
        <p:spPr>
          <a:xfrm>
            <a:off x="347472" y="1444752"/>
            <a:ext cx="2606040" cy="269748"/>
          </a:xfrm>
          <a:prstGeom prst="rect">
            <a:avLst/>
          </a:prstGeom>
          <a:solidFill>
            <a:srgbClr val="FFFFFF"/>
          </a:solidFill>
          <a:ln w="6350">
            <a:solidFill>
              <a:srgbClr val="EDE0CC"/>
            </a:solidFill>
            <a:prstDash val="solid"/>
          </a:ln>
        </p:spPr>
      </p:sp>
      <p:sp>
        <p:nvSpPr>
          <p:cNvPr id="18" name="Text 16"/>
          <p:cNvSpPr/>
          <p:nvPr/>
        </p:nvSpPr>
        <p:spPr>
          <a:xfrm>
            <a:off x="420624" y="1444752"/>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Net Interest Margin (NIM)</a:t>
            </a:r>
            <a:endParaRPr lang="en-US" sz="900" dirty="0"/>
          </a:p>
        </p:txBody>
      </p:sp>
      <p:sp>
        <p:nvSpPr>
          <p:cNvPr id="19" name="Shape 17"/>
          <p:cNvSpPr/>
          <p:nvPr/>
        </p:nvSpPr>
        <p:spPr>
          <a:xfrm>
            <a:off x="2953512" y="1444752"/>
            <a:ext cx="1325880" cy="269748"/>
          </a:xfrm>
          <a:prstGeom prst="rect">
            <a:avLst/>
          </a:prstGeom>
          <a:solidFill>
            <a:srgbClr val="FDEBD0"/>
          </a:solidFill>
          <a:ln w="6350">
            <a:solidFill>
              <a:srgbClr val="EDE0CC"/>
            </a:solidFill>
            <a:prstDash val="solid"/>
          </a:ln>
        </p:spPr>
      </p:sp>
      <p:sp>
        <p:nvSpPr>
          <p:cNvPr id="20" name="Text 18"/>
          <p:cNvSpPr/>
          <p:nvPr/>
        </p:nvSpPr>
        <p:spPr>
          <a:xfrm>
            <a:off x="2953512" y="1444752"/>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3.48%</a:t>
            </a:r>
            <a:endParaRPr lang="en-US" sz="950" dirty="0"/>
          </a:p>
        </p:txBody>
      </p:sp>
      <p:sp>
        <p:nvSpPr>
          <p:cNvPr id="21" name="Shape 19"/>
          <p:cNvSpPr/>
          <p:nvPr/>
        </p:nvSpPr>
        <p:spPr>
          <a:xfrm>
            <a:off x="4279392" y="1444752"/>
            <a:ext cx="1325880" cy="269748"/>
          </a:xfrm>
          <a:prstGeom prst="rect">
            <a:avLst/>
          </a:prstGeom>
          <a:solidFill>
            <a:srgbClr val="FFFFFF"/>
          </a:solidFill>
          <a:ln w="6350">
            <a:solidFill>
              <a:srgbClr val="EDE0CC"/>
            </a:solidFill>
            <a:prstDash val="solid"/>
          </a:ln>
        </p:spPr>
      </p:sp>
      <p:sp>
        <p:nvSpPr>
          <p:cNvPr id="22" name="Text 20"/>
          <p:cNvSpPr/>
          <p:nvPr/>
        </p:nvSpPr>
        <p:spPr>
          <a:xfrm>
            <a:off x="4279392" y="1444752"/>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4.32%</a:t>
            </a:r>
            <a:endParaRPr lang="en-US" sz="950" dirty="0"/>
          </a:p>
        </p:txBody>
      </p:sp>
      <p:sp>
        <p:nvSpPr>
          <p:cNvPr id="23" name="Shape 21"/>
          <p:cNvSpPr/>
          <p:nvPr/>
        </p:nvSpPr>
        <p:spPr>
          <a:xfrm>
            <a:off x="5605272" y="1444752"/>
            <a:ext cx="1325880" cy="269748"/>
          </a:xfrm>
          <a:prstGeom prst="rect">
            <a:avLst/>
          </a:prstGeom>
          <a:solidFill>
            <a:srgbClr val="FFFFFF"/>
          </a:solidFill>
          <a:ln w="6350">
            <a:solidFill>
              <a:srgbClr val="EDE0CC"/>
            </a:solidFill>
            <a:prstDash val="solid"/>
          </a:ln>
        </p:spPr>
      </p:sp>
      <p:sp>
        <p:nvSpPr>
          <p:cNvPr id="24" name="Text 22"/>
          <p:cNvSpPr/>
          <p:nvPr/>
        </p:nvSpPr>
        <p:spPr>
          <a:xfrm>
            <a:off x="5605272" y="1444752"/>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3.98%</a:t>
            </a:r>
            <a:endParaRPr lang="en-US" sz="950" dirty="0"/>
          </a:p>
        </p:txBody>
      </p:sp>
      <p:sp>
        <p:nvSpPr>
          <p:cNvPr id="25" name="Shape 23"/>
          <p:cNvSpPr/>
          <p:nvPr/>
        </p:nvSpPr>
        <p:spPr>
          <a:xfrm>
            <a:off x="6931152" y="1444752"/>
            <a:ext cx="1325880" cy="269748"/>
          </a:xfrm>
          <a:prstGeom prst="rect">
            <a:avLst/>
          </a:prstGeom>
          <a:solidFill>
            <a:srgbClr val="D8F3DC"/>
          </a:solidFill>
          <a:ln w="6350">
            <a:solidFill>
              <a:srgbClr val="EDE0CC"/>
            </a:solidFill>
            <a:prstDash val="solid"/>
          </a:ln>
        </p:spPr>
      </p:sp>
      <p:sp>
        <p:nvSpPr>
          <p:cNvPr id="26" name="Text 24"/>
          <p:cNvSpPr/>
          <p:nvPr/>
        </p:nvSpPr>
        <p:spPr>
          <a:xfrm>
            <a:off x="6931152" y="1444752"/>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4.96%</a:t>
            </a:r>
            <a:endParaRPr lang="en-US" sz="950" dirty="0"/>
          </a:p>
        </p:txBody>
      </p:sp>
      <p:sp>
        <p:nvSpPr>
          <p:cNvPr id="27" name="Shape 25"/>
          <p:cNvSpPr/>
          <p:nvPr/>
        </p:nvSpPr>
        <p:spPr>
          <a:xfrm>
            <a:off x="347472" y="1714500"/>
            <a:ext cx="2606040" cy="269748"/>
          </a:xfrm>
          <a:prstGeom prst="rect">
            <a:avLst/>
          </a:prstGeom>
          <a:solidFill>
            <a:srgbClr val="FAF3E8"/>
          </a:solidFill>
          <a:ln w="6350">
            <a:solidFill>
              <a:srgbClr val="EDE0CC"/>
            </a:solidFill>
            <a:prstDash val="solid"/>
          </a:ln>
        </p:spPr>
      </p:sp>
      <p:sp>
        <p:nvSpPr>
          <p:cNvPr id="28" name="Text 26"/>
          <p:cNvSpPr/>
          <p:nvPr/>
        </p:nvSpPr>
        <p:spPr>
          <a:xfrm>
            <a:off x="420624" y="1714500"/>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Return on Assets (RoA)</a:t>
            </a:r>
            <a:endParaRPr lang="en-US" sz="900" dirty="0"/>
          </a:p>
        </p:txBody>
      </p:sp>
      <p:sp>
        <p:nvSpPr>
          <p:cNvPr id="29" name="Shape 27"/>
          <p:cNvSpPr/>
          <p:nvPr/>
        </p:nvSpPr>
        <p:spPr>
          <a:xfrm>
            <a:off x="2953512" y="1714500"/>
            <a:ext cx="1325880" cy="269748"/>
          </a:xfrm>
          <a:prstGeom prst="rect">
            <a:avLst/>
          </a:prstGeom>
          <a:solidFill>
            <a:srgbClr val="FAF3E8"/>
          </a:solidFill>
          <a:ln w="6350">
            <a:solidFill>
              <a:srgbClr val="EDE0CC"/>
            </a:solidFill>
            <a:prstDash val="solid"/>
          </a:ln>
        </p:spPr>
      </p:sp>
      <p:sp>
        <p:nvSpPr>
          <p:cNvPr id="30" name="Text 28"/>
          <p:cNvSpPr/>
          <p:nvPr/>
        </p:nvSpPr>
        <p:spPr>
          <a:xfrm>
            <a:off x="2953512" y="1714500"/>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1.72%</a:t>
            </a:r>
            <a:endParaRPr lang="en-US" sz="950" dirty="0"/>
          </a:p>
        </p:txBody>
      </p:sp>
      <p:sp>
        <p:nvSpPr>
          <p:cNvPr id="31" name="Shape 29"/>
          <p:cNvSpPr/>
          <p:nvPr/>
        </p:nvSpPr>
        <p:spPr>
          <a:xfrm>
            <a:off x="4279392" y="1714500"/>
            <a:ext cx="1325880" cy="269748"/>
          </a:xfrm>
          <a:prstGeom prst="rect">
            <a:avLst/>
          </a:prstGeom>
          <a:solidFill>
            <a:srgbClr val="D8F3DC"/>
          </a:solidFill>
          <a:ln w="6350">
            <a:solidFill>
              <a:srgbClr val="EDE0CC"/>
            </a:solidFill>
            <a:prstDash val="solid"/>
          </a:ln>
        </p:spPr>
      </p:sp>
      <p:sp>
        <p:nvSpPr>
          <p:cNvPr id="32" name="Text 30"/>
          <p:cNvSpPr/>
          <p:nvPr/>
        </p:nvSpPr>
        <p:spPr>
          <a:xfrm>
            <a:off x="4279392" y="1714500"/>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2.23%</a:t>
            </a:r>
            <a:endParaRPr lang="en-US" sz="950" dirty="0"/>
          </a:p>
        </p:txBody>
      </p:sp>
      <p:sp>
        <p:nvSpPr>
          <p:cNvPr id="33" name="Shape 31"/>
          <p:cNvSpPr/>
          <p:nvPr/>
        </p:nvSpPr>
        <p:spPr>
          <a:xfrm>
            <a:off x="5605272" y="1714500"/>
            <a:ext cx="1325880" cy="269748"/>
          </a:xfrm>
          <a:prstGeom prst="rect">
            <a:avLst/>
          </a:prstGeom>
          <a:solidFill>
            <a:srgbClr val="FDEBD0"/>
          </a:solidFill>
          <a:ln w="6350">
            <a:solidFill>
              <a:srgbClr val="EDE0CC"/>
            </a:solidFill>
            <a:prstDash val="solid"/>
          </a:ln>
        </p:spPr>
      </p:sp>
      <p:sp>
        <p:nvSpPr>
          <p:cNvPr id="34" name="Text 32"/>
          <p:cNvSpPr/>
          <p:nvPr/>
        </p:nvSpPr>
        <p:spPr>
          <a:xfrm>
            <a:off x="5605272" y="1714500"/>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1.64%</a:t>
            </a:r>
            <a:endParaRPr lang="en-US" sz="950" dirty="0"/>
          </a:p>
        </p:txBody>
      </p:sp>
      <p:sp>
        <p:nvSpPr>
          <p:cNvPr id="35" name="Shape 33"/>
          <p:cNvSpPr/>
          <p:nvPr/>
        </p:nvSpPr>
        <p:spPr>
          <a:xfrm>
            <a:off x="6931152" y="1714500"/>
            <a:ext cx="1325880" cy="269748"/>
          </a:xfrm>
          <a:prstGeom prst="rect">
            <a:avLst/>
          </a:prstGeom>
          <a:solidFill>
            <a:srgbClr val="FAF3E8"/>
          </a:solidFill>
          <a:ln w="6350">
            <a:solidFill>
              <a:srgbClr val="EDE0CC"/>
            </a:solidFill>
            <a:prstDash val="solid"/>
          </a:ln>
        </p:spPr>
      </p:sp>
      <p:sp>
        <p:nvSpPr>
          <p:cNvPr id="36" name="Text 34"/>
          <p:cNvSpPr/>
          <p:nvPr/>
        </p:nvSpPr>
        <p:spPr>
          <a:xfrm>
            <a:off x="6931152" y="1714500"/>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1.87%</a:t>
            </a:r>
            <a:endParaRPr lang="en-US" sz="950" dirty="0"/>
          </a:p>
        </p:txBody>
      </p:sp>
      <p:sp>
        <p:nvSpPr>
          <p:cNvPr id="37" name="Shape 35"/>
          <p:cNvSpPr/>
          <p:nvPr/>
        </p:nvSpPr>
        <p:spPr>
          <a:xfrm>
            <a:off x="347472" y="1984248"/>
            <a:ext cx="2606040" cy="269748"/>
          </a:xfrm>
          <a:prstGeom prst="rect">
            <a:avLst/>
          </a:prstGeom>
          <a:solidFill>
            <a:srgbClr val="FFFFFF"/>
          </a:solidFill>
          <a:ln w="6350">
            <a:solidFill>
              <a:srgbClr val="EDE0CC"/>
            </a:solidFill>
            <a:prstDash val="solid"/>
          </a:ln>
        </p:spPr>
      </p:sp>
      <p:sp>
        <p:nvSpPr>
          <p:cNvPr id="38" name="Text 36"/>
          <p:cNvSpPr/>
          <p:nvPr/>
        </p:nvSpPr>
        <p:spPr>
          <a:xfrm>
            <a:off x="420624" y="1984248"/>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Return on Equity (RoE)</a:t>
            </a:r>
            <a:endParaRPr lang="en-US" sz="900" dirty="0"/>
          </a:p>
        </p:txBody>
      </p:sp>
      <p:sp>
        <p:nvSpPr>
          <p:cNvPr id="39" name="Shape 37"/>
          <p:cNvSpPr/>
          <p:nvPr/>
        </p:nvSpPr>
        <p:spPr>
          <a:xfrm>
            <a:off x="2953512" y="1984248"/>
            <a:ext cx="1325880" cy="269748"/>
          </a:xfrm>
          <a:prstGeom prst="rect">
            <a:avLst/>
          </a:prstGeom>
          <a:solidFill>
            <a:srgbClr val="FFFFFF"/>
          </a:solidFill>
          <a:ln w="6350">
            <a:solidFill>
              <a:srgbClr val="EDE0CC"/>
            </a:solidFill>
            <a:prstDash val="solid"/>
          </a:ln>
        </p:spPr>
      </p:sp>
      <p:sp>
        <p:nvSpPr>
          <p:cNvPr id="40" name="Text 38"/>
          <p:cNvSpPr/>
          <p:nvPr/>
        </p:nvSpPr>
        <p:spPr>
          <a:xfrm>
            <a:off x="2953512" y="1984248"/>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13.43%</a:t>
            </a:r>
            <a:endParaRPr lang="en-US" sz="950" dirty="0"/>
          </a:p>
        </p:txBody>
      </p:sp>
      <p:sp>
        <p:nvSpPr>
          <p:cNvPr id="41" name="Shape 39"/>
          <p:cNvSpPr/>
          <p:nvPr/>
        </p:nvSpPr>
        <p:spPr>
          <a:xfrm>
            <a:off x="4279392" y="1984248"/>
            <a:ext cx="1325880" cy="269748"/>
          </a:xfrm>
          <a:prstGeom prst="rect">
            <a:avLst/>
          </a:prstGeom>
          <a:solidFill>
            <a:srgbClr val="D8F3DC"/>
          </a:solidFill>
          <a:ln w="6350">
            <a:solidFill>
              <a:srgbClr val="EDE0CC"/>
            </a:solidFill>
            <a:prstDash val="solid"/>
          </a:ln>
        </p:spPr>
      </p:sp>
      <p:sp>
        <p:nvSpPr>
          <p:cNvPr id="42" name="Text 40"/>
          <p:cNvSpPr/>
          <p:nvPr/>
        </p:nvSpPr>
        <p:spPr>
          <a:xfrm>
            <a:off x="4279392" y="1984248"/>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16.17%</a:t>
            </a:r>
            <a:endParaRPr lang="en-US" sz="950" dirty="0"/>
          </a:p>
        </p:txBody>
      </p:sp>
      <p:sp>
        <p:nvSpPr>
          <p:cNvPr id="43" name="Shape 41"/>
          <p:cNvSpPr/>
          <p:nvPr/>
        </p:nvSpPr>
        <p:spPr>
          <a:xfrm>
            <a:off x="5605272" y="1984248"/>
            <a:ext cx="1325880" cy="269748"/>
          </a:xfrm>
          <a:prstGeom prst="rect">
            <a:avLst/>
          </a:prstGeom>
          <a:solidFill>
            <a:srgbClr val="FFFFFF"/>
          </a:solidFill>
          <a:ln w="6350">
            <a:solidFill>
              <a:srgbClr val="EDE0CC"/>
            </a:solidFill>
            <a:prstDash val="solid"/>
          </a:ln>
        </p:spPr>
      </p:sp>
      <p:sp>
        <p:nvSpPr>
          <p:cNvPr id="44" name="Text 42"/>
          <p:cNvSpPr/>
          <p:nvPr/>
        </p:nvSpPr>
        <p:spPr>
          <a:xfrm>
            <a:off x="5605272" y="1984248"/>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14.77%</a:t>
            </a:r>
            <a:endParaRPr lang="en-US" sz="950" dirty="0"/>
          </a:p>
        </p:txBody>
      </p:sp>
      <p:sp>
        <p:nvSpPr>
          <p:cNvPr id="45" name="Shape 43"/>
          <p:cNvSpPr/>
          <p:nvPr/>
        </p:nvSpPr>
        <p:spPr>
          <a:xfrm>
            <a:off x="6931152" y="1984248"/>
            <a:ext cx="1325880" cy="269748"/>
          </a:xfrm>
          <a:prstGeom prst="rect">
            <a:avLst/>
          </a:prstGeom>
          <a:solidFill>
            <a:srgbClr val="FDEBD0"/>
          </a:solidFill>
          <a:ln w="6350">
            <a:solidFill>
              <a:srgbClr val="EDE0CC"/>
            </a:solidFill>
            <a:prstDash val="solid"/>
          </a:ln>
        </p:spPr>
      </p:sp>
      <p:sp>
        <p:nvSpPr>
          <p:cNvPr id="46" name="Text 44"/>
          <p:cNvSpPr/>
          <p:nvPr/>
        </p:nvSpPr>
        <p:spPr>
          <a:xfrm>
            <a:off x="6931152" y="1984248"/>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10.45%</a:t>
            </a:r>
            <a:endParaRPr lang="en-US" sz="950" dirty="0"/>
          </a:p>
        </p:txBody>
      </p:sp>
      <p:sp>
        <p:nvSpPr>
          <p:cNvPr id="47" name="Shape 45"/>
          <p:cNvSpPr/>
          <p:nvPr/>
        </p:nvSpPr>
        <p:spPr>
          <a:xfrm>
            <a:off x="347472" y="2253996"/>
            <a:ext cx="8449056" cy="201168"/>
          </a:xfrm>
          <a:prstGeom prst="rect">
            <a:avLst/>
          </a:prstGeom>
          <a:solidFill>
            <a:srgbClr val="EDE0CC"/>
          </a:solidFill>
          <a:ln w="12700">
            <a:solidFill>
              <a:srgbClr val="EDE0CC"/>
            </a:solidFill>
            <a:prstDash val="solid"/>
          </a:ln>
        </p:spPr>
      </p:sp>
      <p:sp>
        <p:nvSpPr>
          <p:cNvPr id="48" name="Text 46"/>
          <p:cNvSpPr/>
          <p:nvPr/>
        </p:nvSpPr>
        <p:spPr>
          <a:xfrm>
            <a:off x="438912" y="2253996"/>
            <a:ext cx="8229600" cy="201168"/>
          </a:xfrm>
          <a:prstGeom prst="rect">
            <a:avLst/>
          </a:prstGeom>
          <a:noFill/>
          <a:ln/>
        </p:spPr>
        <p:txBody>
          <a:bodyPr wrap="square" lIns="0" tIns="0" rIns="0" bIns="0" rtlCol="0" anchor="ctr"/>
          <a:lstStyle/>
          <a:p>
            <a:pPr marL="0" indent="0">
              <a:buNone/>
            </a:pPr>
            <a:r>
              <a:rPr lang="en-US" sz="750" b="1" dirty="0">
                <a:solidFill>
                  <a:srgbClr val="2C2C54"/>
                </a:solidFill>
                <a:latin typeface="Arial" pitchFamily="34" charset="0"/>
                <a:ea typeface="Arial" pitchFamily="34" charset="-122"/>
                <a:cs typeface="Arial" pitchFamily="34" charset="-120"/>
              </a:rPr>
              <a:t>EFFICIENCY</a:t>
            </a:r>
            <a:endParaRPr lang="en-US" sz="750" dirty="0"/>
          </a:p>
        </p:txBody>
      </p:sp>
      <p:sp>
        <p:nvSpPr>
          <p:cNvPr id="49" name="Shape 47"/>
          <p:cNvSpPr/>
          <p:nvPr/>
        </p:nvSpPr>
        <p:spPr>
          <a:xfrm>
            <a:off x="347472" y="2455164"/>
            <a:ext cx="2606040" cy="269748"/>
          </a:xfrm>
          <a:prstGeom prst="rect">
            <a:avLst/>
          </a:prstGeom>
          <a:solidFill>
            <a:srgbClr val="FAF3E8"/>
          </a:solidFill>
          <a:ln w="6350">
            <a:solidFill>
              <a:srgbClr val="EDE0CC"/>
            </a:solidFill>
            <a:prstDash val="solid"/>
          </a:ln>
        </p:spPr>
      </p:sp>
      <p:sp>
        <p:nvSpPr>
          <p:cNvPr id="50" name="Text 48"/>
          <p:cNvSpPr/>
          <p:nvPr/>
        </p:nvSpPr>
        <p:spPr>
          <a:xfrm>
            <a:off x="420624" y="2455164"/>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Cost-to-Income Ratio (CIR)</a:t>
            </a:r>
            <a:endParaRPr lang="en-US" sz="900" dirty="0"/>
          </a:p>
        </p:txBody>
      </p:sp>
      <p:sp>
        <p:nvSpPr>
          <p:cNvPr id="51" name="Shape 49"/>
          <p:cNvSpPr/>
          <p:nvPr/>
        </p:nvSpPr>
        <p:spPr>
          <a:xfrm>
            <a:off x="2953512" y="2455164"/>
            <a:ext cx="1325880" cy="269748"/>
          </a:xfrm>
          <a:prstGeom prst="rect">
            <a:avLst/>
          </a:prstGeom>
          <a:solidFill>
            <a:srgbClr val="FAF3E8"/>
          </a:solidFill>
          <a:ln w="6350">
            <a:solidFill>
              <a:srgbClr val="EDE0CC"/>
            </a:solidFill>
            <a:prstDash val="solid"/>
          </a:ln>
        </p:spPr>
      </p:sp>
      <p:sp>
        <p:nvSpPr>
          <p:cNvPr id="52" name="Text 50"/>
          <p:cNvSpPr/>
          <p:nvPr/>
        </p:nvSpPr>
        <p:spPr>
          <a:xfrm>
            <a:off x="2953512" y="2455164"/>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40.51%</a:t>
            </a:r>
            <a:endParaRPr lang="en-US" sz="950" dirty="0"/>
          </a:p>
        </p:txBody>
      </p:sp>
      <p:sp>
        <p:nvSpPr>
          <p:cNvPr id="53" name="Shape 51"/>
          <p:cNvSpPr/>
          <p:nvPr/>
        </p:nvSpPr>
        <p:spPr>
          <a:xfrm>
            <a:off x="4279392" y="2455164"/>
            <a:ext cx="1325880" cy="269748"/>
          </a:xfrm>
          <a:prstGeom prst="rect">
            <a:avLst/>
          </a:prstGeom>
          <a:solidFill>
            <a:srgbClr val="D8F3DC"/>
          </a:solidFill>
          <a:ln w="6350">
            <a:solidFill>
              <a:srgbClr val="EDE0CC"/>
            </a:solidFill>
            <a:prstDash val="solid"/>
          </a:ln>
        </p:spPr>
      </p:sp>
      <p:sp>
        <p:nvSpPr>
          <p:cNvPr id="54" name="Text 52"/>
          <p:cNvSpPr/>
          <p:nvPr/>
        </p:nvSpPr>
        <p:spPr>
          <a:xfrm>
            <a:off x="4279392" y="2455164"/>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38.64%</a:t>
            </a:r>
            <a:endParaRPr lang="en-US" sz="950" dirty="0"/>
          </a:p>
        </p:txBody>
      </p:sp>
      <p:sp>
        <p:nvSpPr>
          <p:cNvPr id="55" name="Shape 53"/>
          <p:cNvSpPr/>
          <p:nvPr/>
        </p:nvSpPr>
        <p:spPr>
          <a:xfrm>
            <a:off x="5605272" y="2455164"/>
            <a:ext cx="1325880" cy="269748"/>
          </a:xfrm>
          <a:prstGeom prst="rect">
            <a:avLst/>
          </a:prstGeom>
          <a:solidFill>
            <a:srgbClr val="FDEBD0"/>
          </a:solidFill>
          <a:ln w="6350">
            <a:solidFill>
              <a:srgbClr val="EDE0CC"/>
            </a:solidFill>
            <a:prstDash val="solid"/>
          </a:ln>
        </p:spPr>
      </p:sp>
      <p:sp>
        <p:nvSpPr>
          <p:cNvPr id="56" name="Text 54"/>
          <p:cNvSpPr/>
          <p:nvPr/>
        </p:nvSpPr>
        <p:spPr>
          <a:xfrm>
            <a:off x="5605272" y="2455164"/>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47.11%</a:t>
            </a:r>
            <a:endParaRPr lang="en-US" sz="950" dirty="0"/>
          </a:p>
        </p:txBody>
      </p:sp>
      <p:sp>
        <p:nvSpPr>
          <p:cNvPr id="57" name="Shape 55"/>
          <p:cNvSpPr/>
          <p:nvPr/>
        </p:nvSpPr>
        <p:spPr>
          <a:xfrm>
            <a:off x="6931152" y="2455164"/>
            <a:ext cx="1325880" cy="269748"/>
          </a:xfrm>
          <a:prstGeom prst="rect">
            <a:avLst/>
          </a:prstGeom>
          <a:solidFill>
            <a:srgbClr val="FAF3E8"/>
          </a:solidFill>
          <a:ln w="6350">
            <a:solidFill>
              <a:srgbClr val="EDE0CC"/>
            </a:solidFill>
            <a:prstDash val="solid"/>
          </a:ln>
        </p:spPr>
      </p:sp>
      <p:sp>
        <p:nvSpPr>
          <p:cNvPr id="58" name="Text 56"/>
          <p:cNvSpPr/>
          <p:nvPr/>
        </p:nvSpPr>
        <p:spPr>
          <a:xfrm>
            <a:off x="6931152" y="2455164"/>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43.36%</a:t>
            </a:r>
            <a:endParaRPr lang="en-US" sz="950" dirty="0"/>
          </a:p>
        </p:txBody>
      </p:sp>
      <p:sp>
        <p:nvSpPr>
          <p:cNvPr id="59" name="Shape 57"/>
          <p:cNvSpPr/>
          <p:nvPr/>
        </p:nvSpPr>
        <p:spPr>
          <a:xfrm>
            <a:off x="347472" y="2724912"/>
            <a:ext cx="2606040" cy="269748"/>
          </a:xfrm>
          <a:prstGeom prst="rect">
            <a:avLst/>
          </a:prstGeom>
          <a:solidFill>
            <a:srgbClr val="FFFFFF"/>
          </a:solidFill>
          <a:ln w="6350">
            <a:solidFill>
              <a:srgbClr val="EDE0CC"/>
            </a:solidFill>
            <a:prstDash val="solid"/>
          </a:ln>
        </p:spPr>
      </p:sp>
      <p:sp>
        <p:nvSpPr>
          <p:cNvPr id="60" name="Text 58"/>
          <p:cNvSpPr/>
          <p:nvPr/>
        </p:nvSpPr>
        <p:spPr>
          <a:xfrm>
            <a:off x="420624" y="2724912"/>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Cost per Branch (Rs Cr)</a:t>
            </a:r>
            <a:endParaRPr lang="en-US" sz="900" dirty="0"/>
          </a:p>
        </p:txBody>
      </p:sp>
      <p:sp>
        <p:nvSpPr>
          <p:cNvPr id="61" name="Shape 59"/>
          <p:cNvSpPr/>
          <p:nvPr/>
        </p:nvSpPr>
        <p:spPr>
          <a:xfrm>
            <a:off x="2953512" y="2724912"/>
            <a:ext cx="1325880" cy="269748"/>
          </a:xfrm>
          <a:prstGeom prst="rect">
            <a:avLst/>
          </a:prstGeom>
          <a:solidFill>
            <a:srgbClr val="FFFFFF"/>
          </a:solidFill>
          <a:ln w="6350">
            <a:solidFill>
              <a:srgbClr val="EDE0CC"/>
            </a:solidFill>
            <a:prstDash val="solid"/>
          </a:ln>
        </p:spPr>
      </p:sp>
      <p:sp>
        <p:nvSpPr>
          <p:cNvPr id="62" name="Text 60"/>
          <p:cNvSpPr/>
          <p:nvPr/>
        </p:nvSpPr>
        <p:spPr>
          <a:xfrm>
            <a:off x="2953512" y="2724912"/>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7.21</a:t>
            </a:r>
            <a:endParaRPr lang="en-US" sz="950" dirty="0"/>
          </a:p>
        </p:txBody>
      </p:sp>
      <p:sp>
        <p:nvSpPr>
          <p:cNvPr id="63" name="Shape 61"/>
          <p:cNvSpPr/>
          <p:nvPr/>
        </p:nvSpPr>
        <p:spPr>
          <a:xfrm>
            <a:off x="4279392" y="2724912"/>
            <a:ext cx="1325880" cy="269748"/>
          </a:xfrm>
          <a:prstGeom prst="rect">
            <a:avLst/>
          </a:prstGeom>
          <a:solidFill>
            <a:srgbClr val="D8F3DC"/>
          </a:solidFill>
          <a:ln w="6350">
            <a:solidFill>
              <a:srgbClr val="EDE0CC"/>
            </a:solidFill>
            <a:prstDash val="solid"/>
          </a:ln>
        </p:spPr>
      </p:sp>
      <p:sp>
        <p:nvSpPr>
          <p:cNvPr id="64" name="Text 62"/>
          <p:cNvSpPr/>
          <p:nvPr/>
        </p:nvSpPr>
        <p:spPr>
          <a:xfrm>
            <a:off x="4279392" y="2724912"/>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6.07</a:t>
            </a:r>
            <a:endParaRPr lang="en-US" sz="950" dirty="0"/>
          </a:p>
        </p:txBody>
      </p:sp>
      <p:sp>
        <p:nvSpPr>
          <p:cNvPr id="65" name="Shape 63"/>
          <p:cNvSpPr/>
          <p:nvPr/>
        </p:nvSpPr>
        <p:spPr>
          <a:xfrm>
            <a:off x="5605272" y="2724912"/>
            <a:ext cx="1325880" cy="269748"/>
          </a:xfrm>
          <a:prstGeom prst="rect">
            <a:avLst/>
          </a:prstGeom>
          <a:solidFill>
            <a:srgbClr val="FFFFFF"/>
          </a:solidFill>
          <a:ln w="6350">
            <a:solidFill>
              <a:srgbClr val="EDE0CC"/>
            </a:solidFill>
            <a:prstDash val="solid"/>
          </a:ln>
        </p:spPr>
      </p:sp>
      <p:sp>
        <p:nvSpPr>
          <p:cNvPr id="66" name="Text 64"/>
          <p:cNvSpPr/>
          <p:nvPr/>
        </p:nvSpPr>
        <p:spPr>
          <a:xfrm>
            <a:off x="5605272" y="2724912"/>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6.38</a:t>
            </a:r>
            <a:endParaRPr lang="en-US" sz="950" dirty="0"/>
          </a:p>
        </p:txBody>
      </p:sp>
      <p:sp>
        <p:nvSpPr>
          <p:cNvPr id="67" name="Shape 65"/>
          <p:cNvSpPr/>
          <p:nvPr/>
        </p:nvSpPr>
        <p:spPr>
          <a:xfrm>
            <a:off x="6931152" y="2724912"/>
            <a:ext cx="1325880" cy="269748"/>
          </a:xfrm>
          <a:prstGeom prst="rect">
            <a:avLst/>
          </a:prstGeom>
          <a:solidFill>
            <a:srgbClr val="FDEBD0"/>
          </a:solidFill>
          <a:ln w="6350">
            <a:solidFill>
              <a:srgbClr val="EDE0CC"/>
            </a:solidFill>
            <a:prstDash val="solid"/>
          </a:ln>
        </p:spPr>
      </p:sp>
      <p:sp>
        <p:nvSpPr>
          <p:cNvPr id="68" name="Text 66"/>
          <p:cNvSpPr/>
          <p:nvPr/>
        </p:nvSpPr>
        <p:spPr>
          <a:xfrm>
            <a:off x="6931152" y="2724912"/>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8.74</a:t>
            </a:r>
            <a:endParaRPr lang="en-US" sz="950" dirty="0"/>
          </a:p>
        </p:txBody>
      </p:sp>
      <p:sp>
        <p:nvSpPr>
          <p:cNvPr id="69" name="Shape 67"/>
          <p:cNvSpPr/>
          <p:nvPr/>
        </p:nvSpPr>
        <p:spPr>
          <a:xfrm>
            <a:off x="347472" y="2994660"/>
            <a:ext cx="8449056" cy="201168"/>
          </a:xfrm>
          <a:prstGeom prst="rect">
            <a:avLst/>
          </a:prstGeom>
          <a:solidFill>
            <a:srgbClr val="EDE0CC"/>
          </a:solidFill>
          <a:ln w="12700">
            <a:solidFill>
              <a:srgbClr val="EDE0CC"/>
            </a:solidFill>
            <a:prstDash val="solid"/>
          </a:ln>
        </p:spPr>
      </p:sp>
      <p:sp>
        <p:nvSpPr>
          <p:cNvPr id="70" name="Text 68"/>
          <p:cNvSpPr/>
          <p:nvPr/>
        </p:nvSpPr>
        <p:spPr>
          <a:xfrm>
            <a:off x="438912" y="2994660"/>
            <a:ext cx="8229600" cy="201168"/>
          </a:xfrm>
          <a:prstGeom prst="rect">
            <a:avLst/>
          </a:prstGeom>
          <a:noFill/>
          <a:ln/>
        </p:spPr>
        <p:txBody>
          <a:bodyPr wrap="square" lIns="0" tIns="0" rIns="0" bIns="0" rtlCol="0" anchor="ctr"/>
          <a:lstStyle/>
          <a:p>
            <a:pPr marL="0" indent="0">
              <a:buNone/>
            </a:pPr>
            <a:r>
              <a:rPr lang="en-US" sz="750" b="1" dirty="0">
                <a:solidFill>
                  <a:srgbClr val="2C2C54"/>
                </a:solidFill>
                <a:latin typeface="Arial" pitchFamily="34" charset="0"/>
                <a:ea typeface="Arial" pitchFamily="34" charset="-122"/>
                <a:cs typeface="Arial" pitchFamily="34" charset="-120"/>
              </a:rPr>
              <a:t>ASSET QUALITY</a:t>
            </a:r>
            <a:endParaRPr lang="en-US" sz="750" dirty="0"/>
          </a:p>
        </p:txBody>
      </p:sp>
      <p:sp>
        <p:nvSpPr>
          <p:cNvPr id="71" name="Shape 69"/>
          <p:cNvSpPr/>
          <p:nvPr/>
        </p:nvSpPr>
        <p:spPr>
          <a:xfrm>
            <a:off x="347472" y="3195828"/>
            <a:ext cx="2606040" cy="269748"/>
          </a:xfrm>
          <a:prstGeom prst="rect">
            <a:avLst/>
          </a:prstGeom>
          <a:solidFill>
            <a:srgbClr val="FAF3E8"/>
          </a:solidFill>
          <a:ln w="6350">
            <a:solidFill>
              <a:srgbClr val="EDE0CC"/>
            </a:solidFill>
            <a:prstDash val="solid"/>
          </a:ln>
        </p:spPr>
      </p:sp>
      <p:sp>
        <p:nvSpPr>
          <p:cNvPr id="72" name="Text 70"/>
          <p:cNvSpPr/>
          <p:nvPr/>
        </p:nvSpPr>
        <p:spPr>
          <a:xfrm>
            <a:off x="420624" y="3195828"/>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Gross NPA Ratio</a:t>
            </a:r>
            <a:endParaRPr lang="en-US" sz="900" dirty="0"/>
          </a:p>
        </p:txBody>
      </p:sp>
      <p:sp>
        <p:nvSpPr>
          <p:cNvPr id="73" name="Shape 71"/>
          <p:cNvSpPr/>
          <p:nvPr/>
        </p:nvSpPr>
        <p:spPr>
          <a:xfrm>
            <a:off x="2953512" y="3195828"/>
            <a:ext cx="1325880" cy="269748"/>
          </a:xfrm>
          <a:prstGeom prst="rect">
            <a:avLst/>
          </a:prstGeom>
          <a:solidFill>
            <a:srgbClr val="FAF3E8"/>
          </a:solidFill>
          <a:ln w="6350">
            <a:solidFill>
              <a:srgbClr val="EDE0CC"/>
            </a:solidFill>
            <a:prstDash val="solid"/>
          </a:ln>
        </p:spPr>
      </p:sp>
      <p:sp>
        <p:nvSpPr>
          <p:cNvPr id="74" name="Text 72"/>
          <p:cNvSpPr/>
          <p:nvPr/>
        </p:nvSpPr>
        <p:spPr>
          <a:xfrm>
            <a:off x="2953512" y="3195828"/>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1.33%</a:t>
            </a:r>
            <a:endParaRPr lang="en-US" sz="950" dirty="0"/>
          </a:p>
        </p:txBody>
      </p:sp>
      <p:sp>
        <p:nvSpPr>
          <p:cNvPr id="75" name="Shape 73"/>
          <p:cNvSpPr/>
          <p:nvPr/>
        </p:nvSpPr>
        <p:spPr>
          <a:xfrm>
            <a:off x="4279392" y="3195828"/>
            <a:ext cx="1325880" cy="269748"/>
          </a:xfrm>
          <a:prstGeom prst="rect">
            <a:avLst/>
          </a:prstGeom>
          <a:solidFill>
            <a:srgbClr val="FDEBD0"/>
          </a:solidFill>
          <a:ln w="6350">
            <a:solidFill>
              <a:srgbClr val="EDE0CC"/>
            </a:solidFill>
            <a:prstDash val="solid"/>
          </a:ln>
        </p:spPr>
      </p:sp>
      <p:sp>
        <p:nvSpPr>
          <p:cNvPr id="76" name="Text 74"/>
          <p:cNvSpPr/>
          <p:nvPr/>
        </p:nvSpPr>
        <p:spPr>
          <a:xfrm>
            <a:off x="4279392" y="3195828"/>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1.73%</a:t>
            </a:r>
            <a:endParaRPr lang="en-US" sz="950" dirty="0"/>
          </a:p>
        </p:txBody>
      </p:sp>
      <p:sp>
        <p:nvSpPr>
          <p:cNvPr id="77" name="Shape 75"/>
          <p:cNvSpPr/>
          <p:nvPr/>
        </p:nvSpPr>
        <p:spPr>
          <a:xfrm>
            <a:off x="5605272" y="3195828"/>
            <a:ext cx="1325880" cy="269748"/>
          </a:xfrm>
          <a:prstGeom prst="rect">
            <a:avLst/>
          </a:prstGeom>
          <a:solidFill>
            <a:srgbClr val="D8F3DC"/>
          </a:solidFill>
          <a:ln w="6350">
            <a:solidFill>
              <a:srgbClr val="EDE0CC"/>
            </a:solidFill>
            <a:prstDash val="solid"/>
          </a:ln>
        </p:spPr>
      </p:sp>
      <p:sp>
        <p:nvSpPr>
          <p:cNvPr id="78" name="Text 76"/>
          <p:cNvSpPr/>
          <p:nvPr/>
        </p:nvSpPr>
        <p:spPr>
          <a:xfrm>
            <a:off x="5605272" y="3195828"/>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1.28%</a:t>
            </a:r>
            <a:endParaRPr lang="en-US" sz="950" dirty="0"/>
          </a:p>
        </p:txBody>
      </p:sp>
      <p:sp>
        <p:nvSpPr>
          <p:cNvPr id="79" name="Shape 77"/>
          <p:cNvSpPr/>
          <p:nvPr/>
        </p:nvSpPr>
        <p:spPr>
          <a:xfrm>
            <a:off x="6931152" y="3195828"/>
            <a:ext cx="1325880" cy="269748"/>
          </a:xfrm>
          <a:prstGeom prst="rect">
            <a:avLst/>
          </a:prstGeom>
          <a:solidFill>
            <a:srgbClr val="FAF3E8"/>
          </a:solidFill>
          <a:ln w="6350">
            <a:solidFill>
              <a:srgbClr val="EDE0CC"/>
            </a:solidFill>
            <a:prstDash val="solid"/>
          </a:ln>
        </p:spPr>
      </p:sp>
      <p:sp>
        <p:nvSpPr>
          <p:cNvPr id="80" name="Text 78"/>
          <p:cNvSpPr/>
          <p:nvPr/>
        </p:nvSpPr>
        <p:spPr>
          <a:xfrm>
            <a:off x="6931152" y="3195828"/>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1.40%</a:t>
            </a:r>
            <a:endParaRPr lang="en-US" sz="950" dirty="0"/>
          </a:p>
        </p:txBody>
      </p:sp>
      <p:sp>
        <p:nvSpPr>
          <p:cNvPr id="81" name="Shape 79"/>
          <p:cNvSpPr/>
          <p:nvPr/>
        </p:nvSpPr>
        <p:spPr>
          <a:xfrm>
            <a:off x="347472" y="3465576"/>
            <a:ext cx="2606040" cy="269748"/>
          </a:xfrm>
          <a:prstGeom prst="rect">
            <a:avLst/>
          </a:prstGeom>
          <a:solidFill>
            <a:srgbClr val="FFFFFF"/>
          </a:solidFill>
          <a:ln w="6350">
            <a:solidFill>
              <a:srgbClr val="EDE0CC"/>
            </a:solidFill>
            <a:prstDash val="solid"/>
          </a:ln>
        </p:spPr>
      </p:sp>
      <p:sp>
        <p:nvSpPr>
          <p:cNvPr id="82" name="Text 80"/>
          <p:cNvSpPr/>
          <p:nvPr/>
        </p:nvSpPr>
        <p:spPr>
          <a:xfrm>
            <a:off x="420624" y="3465576"/>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Net NPA Ratio</a:t>
            </a:r>
            <a:endParaRPr lang="en-US" sz="900" dirty="0"/>
          </a:p>
        </p:txBody>
      </p:sp>
      <p:sp>
        <p:nvSpPr>
          <p:cNvPr id="83" name="Shape 81"/>
          <p:cNvSpPr/>
          <p:nvPr/>
        </p:nvSpPr>
        <p:spPr>
          <a:xfrm>
            <a:off x="2953512" y="3465576"/>
            <a:ext cx="1325880" cy="269748"/>
          </a:xfrm>
          <a:prstGeom prst="rect">
            <a:avLst/>
          </a:prstGeom>
          <a:solidFill>
            <a:srgbClr val="FDEBD0"/>
          </a:solidFill>
          <a:ln w="6350">
            <a:solidFill>
              <a:srgbClr val="EDE0CC"/>
            </a:solidFill>
            <a:prstDash val="solid"/>
          </a:ln>
        </p:spPr>
      </p:sp>
      <p:sp>
        <p:nvSpPr>
          <p:cNvPr id="84" name="Text 82"/>
          <p:cNvSpPr/>
          <p:nvPr/>
        </p:nvSpPr>
        <p:spPr>
          <a:xfrm>
            <a:off x="2953512" y="3465576"/>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0.43%</a:t>
            </a:r>
            <a:endParaRPr lang="en-US" sz="950" dirty="0"/>
          </a:p>
        </p:txBody>
      </p:sp>
      <p:sp>
        <p:nvSpPr>
          <p:cNvPr id="85" name="Shape 83"/>
          <p:cNvSpPr/>
          <p:nvPr/>
        </p:nvSpPr>
        <p:spPr>
          <a:xfrm>
            <a:off x="4279392" y="3465576"/>
            <a:ext cx="1325880" cy="269748"/>
          </a:xfrm>
          <a:prstGeom prst="rect">
            <a:avLst/>
          </a:prstGeom>
          <a:solidFill>
            <a:srgbClr val="FFFFFF"/>
          </a:solidFill>
          <a:ln w="6350">
            <a:solidFill>
              <a:srgbClr val="EDE0CC"/>
            </a:solidFill>
            <a:prstDash val="solid"/>
          </a:ln>
        </p:spPr>
      </p:sp>
      <p:sp>
        <p:nvSpPr>
          <p:cNvPr id="86" name="Text 84"/>
          <p:cNvSpPr/>
          <p:nvPr/>
        </p:nvSpPr>
        <p:spPr>
          <a:xfrm>
            <a:off x="4279392" y="3465576"/>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0.39%</a:t>
            </a:r>
            <a:endParaRPr lang="en-US" sz="950" dirty="0"/>
          </a:p>
        </p:txBody>
      </p:sp>
      <p:sp>
        <p:nvSpPr>
          <p:cNvPr id="87" name="Shape 85"/>
          <p:cNvSpPr/>
          <p:nvPr/>
        </p:nvSpPr>
        <p:spPr>
          <a:xfrm>
            <a:off x="5605272" y="3465576"/>
            <a:ext cx="1325880" cy="269748"/>
          </a:xfrm>
          <a:prstGeom prst="rect">
            <a:avLst/>
          </a:prstGeom>
          <a:solidFill>
            <a:srgbClr val="D8F3DC"/>
          </a:solidFill>
          <a:ln w="6350">
            <a:solidFill>
              <a:srgbClr val="EDE0CC"/>
            </a:solidFill>
            <a:prstDash val="solid"/>
          </a:ln>
        </p:spPr>
      </p:sp>
      <p:sp>
        <p:nvSpPr>
          <p:cNvPr id="88" name="Text 86"/>
          <p:cNvSpPr/>
          <p:nvPr/>
        </p:nvSpPr>
        <p:spPr>
          <a:xfrm>
            <a:off x="5605272" y="3465576"/>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0.33%</a:t>
            </a:r>
            <a:endParaRPr lang="en-US" sz="950" dirty="0"/>
          </a:p>
        </p:txBody>
      </p:sp>
      <p:sp>
        <p:nvSpPr>
          <p:cNvPr id="89" name="Shape 87"/>
          <p:cNvSpPr/>
          <p:nvPr/>
        </p:nvSpPr>
        <p:spPr>
          <a:xfrm>
            <a:off x="6931152" y="3465576"/>
            <a:ext cx="1325880" cy="269748"/>
          </a:xfrm>
          <a:prstGeom prst="rect">
            <a:avLst/>
          </a:prstGeom>
          <a:solidFill>
            <a:srgbClr val="FFFFFF"/>
          </a:solidFill>
          <a:ln w="6350">
            <a:solidFill>
              <a:srgbClr val="EDE0CC"/>
            </a:solidFill>
            <a:prstDash val="solid"/>
          </a:ln>
        </p:spPr>
      </p:sp>
      <p:sp>
        <p:nvSpPr>
          <p:cNvPr id="90" name="Text 88"/>
          <p:cNvSpPr/>
          <p:nvPr/>
        </p:nvSpPr>
        <p:spPr>
          <a:xfrm>
            <a:off x="6931152" y="3465576"/>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0.40%</a:t>
            </a:r>
            <a:endParaRPr lang="en-US" sz="950" dirty="0"/>
          </a:p>
        </p:txBody>
      </p:sp>
      <p:sp>
        <p:nvSpPr>
          <p:cNvPr id="91" name="Shape 89"/>
          <p:cNvSpPr/>
          <p:nvPr/>
        </p:nvSpPr>
        <p:spPr>
          <a:xfrm>
            <a:off x="347472" y="3735324"/>
            <a:ext cx="8449056" cy="201168"/>
          </a:xfrm>
          <a:prstGeom prst="rect">
            <a:avLst/>
          </a:prstGeom>
          <a:solidFill>
            <a:srgbClr val="EDE0CC"/>
          </a:solidFill>
          <a:ln w="12700">
            <a:solidFill>
              <a:srgbClr val="EDE0CC"/>
            </a:solidFill>
            <a:prstDash val="solid"/>
          </a:ln>
        </p:spPr>
      </p:sp>
      <p:sp>
        <p:nvSpPr>
          <p:cNvPr id="92" name="Text 90"/>
          <p:cNvSpPr/>
          <p:nvPr/>
        </p:nvSpPr>
        <p:spPr>
          <a:xfrm>
            <a:off x="438912" y="3735324"/>
            <a:ext cx="8229600" cy="201168"/>
          </a:xfrm>
          <a:prstGeom prst="rect">
            <a:avLst/>
          </a:prstGeom>
          <a:noFill/>
          <a:ln/>
        </p:spPr>
        <p:txBody>
          <a:bodyPr wrap="square" lIns="0" tIns="0" rIns="0" bIns="0" rtlCol="0" anchor="ctr"/>
          <a:lstStyle/>
          <a:p>
            <a:pPr marL="0" indent="0">
              <a:buNone/>
            </a:pPr>
            <a:r>
              <a:rPr lang="en-US" sz="750" b="1" dirty="0">
                <a:solidFill>
                  <a:srgbClr val="2C2C54"/>
                </a:solidFill>
                <a:latin typeface="Arial" pitchFamily="34" charset="0"/>
                <a:ea typeface="Arial" pitchFamily="34" charset="-122"/>
                <a:cs typeface="Arial" pitchFamily="34" charset="-120"/>
              </a:rPr>
              <a:t>LIQUIDITY &amp; FUNDING</a:t>
            </a:r>
            <a:endParaRPr lang="en-US" sz="750" dirty="0"/>
          </a:p>
        </p:txBody>
      </p:sp>
      <p:sp>
        <p:nvSpPr>
          <p:cNvPr id="93" name="Shape 91"/>
          <p:cNvSpPr/>
          <p:nvPr/>
        </p:nvSpPr>
        <p:spPr>
          <a:xfrm>
            <a:off x="347472" y="3936492"/>
            <a:ext cx="2606040" cy="269748"/>
          </a:xfrm>
          <a:prstGeom prst="rect">
            <a:avLst/>
          </a:prstGeom>
          <a:solidFill>
            <a:srgbClr val="FAF3E8"/>
          </a:solidFill>
          <a:ln w="6350">
            <a:solidFill>
              <a:srgbClr val="EDE0CC"/>
            </a:solidFill>
            <a:prstDash val="solid"/>
          </a:ln>
        </p:spPr>
      </p:sp>
      <p:sp>
        <p:nvSpPr>
          <p:cNvPr id="94" name="Text 92"/>
          <p:cNvSpPr/>
          <p:nvPr/>
        </p:nvSpPr>
        <p:spPr>
          <a:xfrm>
            <a:off x="420624" y="3936492"/>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CASA Ratio</a:t>
            </a:r>
            <a:endParaRPr lang="en-US" sz="900" dirty="0"/>
          </a:p>
        </p:txBody>
      </p:sp>
      <p:sp>
        <p:nvSpPr>
          <p:cNvPr id="95" name="Shape 93"/>
          <p:cNvSpPr/>
          <p:nvPr/>
        </p:nvSpPr>
        <p:spPr>
          <a:xfrm>
            <a:off x="2953512" y="3936492"/>
            <a:ext cx="1325880" cy="269748"/>
          </a:xfrm>
          <a:prstGeom prst="rect">
            <a:avLst/>
          </a:prstGeom>
          <a:solidFill>
            <a:srgbClr val="FDEBD0"/>
          </a:solidFill>
          <a:ln w="6350">
            <a:solidFill>
              <a:srgbClr val="EDE0CC"/>
            </a:solidFill>
            <a:prstDash val="solid"/>
          </a:ln>
        </p:spPr>
      </p:sp>
      <p:sp>
        <p:nvSpPr>
          <p:cNvPr id="96" name="Text 94"/>
          <p:cNvSpPr/>
          <p:nvPr/>
        </p:nvSpPr>
        <p:spPr>
          <a:xfrm>
            <a:off x="2953512" y="3936492"/>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34.80%</a:t>
            </a:r>
            <a:endParaRPr lang="en-US" sz="950" dirty="0"/>
          </a:p>
        </p:txBody>
      </p:sp>
      <p:sp>
        <p:nvSpPr>
          <p:cNvPr id="97" name="Shape 95"/>
          <p:cNvSpPr/>
          <p:nvPr/>
        </p:nvSpPr>
        <p:spPr>
          <a:xfrm>
            <a:off x="4279392" y="3936492"/>
            <a:ext cx="1325880" cy="269748"/>
          </a:xfrm>
          <a:prstGeom prst="rect">
            <a:avLst/>
          </a:prstGeom>
          <a:solidFill>
            <a:srgbClr val="FAF3E8"/>
          </a:solidFill>
          <a:ln w="6350">
            <a:solidFill>
              <a:srgbClr val="EDE0CC"/>
            </a:solidFill>
            <a:prstDash val="solid"/>
          </a:ln>
        </p:spPr>
      </p:sp>
      <p:sp>
        <p:nvSpPr>
          <p:cNvPr id="98" name="Text 96"/>
          <p:cNvSpPr/>
          <p:nvPr/>
        </p:nvSpPr>
        <p:spPr>
          <a:xfrm>
            <a:off x="4279392" y="3936492"/>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41.84%</a:t>
            </a:r>
            <a:endParaRPr lang="en-US" sz="950" dirty="0"/>
          </a:p>
        </p:txBody>
      </p:sp>
      <p:sp>
        <p:nvSpPr>
          <p:cNvPr id="99" name="Shape 97"/>
          <p:cNvSpPr/>
          <p:nvPr/>
        </p:nvSpPr>
        <p:spPr>
          <a:xfrm>
            <a:off x="5605272" y="3936492"/>
            <a:ext cx="1325880" cy="269748"/>
          </a:xfrm>
          <a:prstGeom prst="rect">
            <a:avLst/>
          </a:prstGeom>
          <a:solidFill>
            <a:srgbClr val="FAF3E8"/>
          </a:solidFill>
          <a:ln w="6350">
            <a:solidFill>
              <a:srgbClr val="EDE0CC"/>
            </a:solidFill>
            <a:prstDash val="solid"/>
          </a:ln>
        </p:spPr>
      </p:sp>
      <p:sp>
        <p:nvSpPr>
          <p:cNvPr id="100" name="Text 98"/>
          <p:cNvSpPr/>
          <p:nvPr/>
        </p:nvSpPr>
        <p:spPr>
          <a:xfrm>
            <a:off x="5605272" y="3936492"/>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40.77%</a:t>
            </a:r>
            <a:endParaRPr lang="en-US" sz="950" dirty="0"/>
          </a:p>
        </p:txBody>
      </p:sp>
      <p:sp>
        <p:nvSpPr>
          <p:cNvPr id="101" name="Shape 99"/>
          <p:cNvSpPr/>
          <p:nvPr/>
        </p:nvSpPr>
        <p:spPr>
          <a:xfrm>
            <a:off x="6931152" y="3936492"/>
            <a:ext cx="1325880" cy="269748"/>
          </a:xfrm>
          <a:prstGeom prst="rect">
            <a:avLst/>
          </a:prstGeom>
          <a:solidFill>
            <a:srgbClr val="D8F3DC"/>
          </a:solidFill>
          <a:ln w="6350">
            <a:solidFill>
              <a:srgbClr val="EDE0CC"/>
            </a:solidFill>
            <a:prstDash val="solid"/>
          </a:ln>
        </p:spPr>
      </p:sp>
      <p:sp>
        <p:nvSpPr>
          <p:cNvPr id="102" name="Text 100"/>
          <p:cNvSpPr/>
          <p:nvPr/>
        </p:nvSpPr>
        <p:spPr>
          <a:xfrm>
            <a:off x="6931152" y="3936492"/>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43.34%</a:t>
            </a:r>
            <a:endParaRPr lang="en-US" sz="950" dirty="0"/>
          </a:p>
        </p:txBody>
      </p:sp>
      <p:sp>
        <p:nvSpPr>
          <p:cNvPr id="103" name="Shape 101"/>
          <p:cNvSpPr/>
          <p:nvPr/>
        </p:nvSpPr>
        <p:spPr>
          <a:xfrm>
            <a:off x="347472" y="4206240"/>
            <a:ext cx="2606040" cy="269748"/>
          </a:xfrm>
          <a:prstGeom prst="rect">
            <a:avLst/>
          </a:prstGeom>
          <a:solidFill>
            <a:srgbClr val="FFFFFF"/>
          </a:solidFill>
          <a:ln w="6350">
            <a:solidFill>
              <a:srgbClr val="EDE0CC"/>
            </a:solidFill>
            <a:prstDash val="solid"/>
          </a:ln>
        </p:spPr>
      </p:sp>
      <p:sp>
        <p:nvSpPr>
          <p:cNvPr id="104" name="Text 102"/>
          <p:cNvSpPr/>
          <p:nvPr/>
        </p:nvSpPr>
        <p:spPr>
          <a:xfrm>
            <a:off x="420624" y="4206240"/>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Credit-Deposit (CD) Ratio</a:t>
            </a:r>
            <a:endParaRPr lang="en-US" sz="900" dirty="0"/>
          </a:p>
        </p:txBody>
      </p:sp>
      <p:sp>
        <p:nvSpPr>
          <p:cNvPr id="105" name="Shape 103"/>
          <p:cNvSpPr/>
          <p:nvPr/>
        </p:nvSpPr>
        <p:spPr>
          <a:xfrm>
            <a:off x="2953512" y="4206240"/>
            <a:ext cx="1325880" cy="269748"/>
          </a:xfrm>
          <a:prstGeom prst="rect">
            <a:avLst/>
          </a:prstGeom>
          <a:solidFill>
            <a:srgbClr val="FDEBD0"/>
          </a:solidFill>
          <a:ln w="6350">
            <a:solidFill>
              <a:srgbClr val="EDE0CC"/>
            </a:solidFill>
            <a:prstDash val="solid"/>
          </a:ln>
        </p:spPr>
      </p:sp>
      <p:sp>
        <p:nvSpPr>
          <p:cNvPr id="106" name="Text 104"/>
          <p:cNvSpPr/>
          <p:nvPr/>
        </p:nvSpPr>
        <p:spPr>
          <a:xfrm>
            <a:off x="2953512" y="4206240"/>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96.50%</a:t>
            </a:r>
            <a:endParaRPr lang="en-US" sz="950" dirty="0"/>
          </a:p>
        </p:txBody>
      </p:sp>
      <p:sp>
        <p:nvSpPr>
          <p:cNvPr id="107" name="Shape 105"/>
          <p:cNvSpPr/>
          <p:nvPr/>
        </p:nvSpPr>
        <p:spPr>
          <a:xfrm>
            <a:off x="4279392" y="4206240"/>
            <a:ext cx="1325880" cy="269748"/>
          </a:xfrm>
          <a:prstGeom prst="rect">
            <a:avLst/>
          </a:prstGeom>
          <a:solidFill>
            <a:srgbClr val="D8F3DC"/>
          </a:solidFill>
          <a:ln w="6350">
            <a:solidFill>
              <a:srgbClr val="EDE0CC"/>
            </a:solidFill>
            <a:prstDash val="solid"/>
          </a:ln>
        </p:spPr>
      </p:sp>
      <p:sp>
        <p:nvSpPr>
          <p:cNvPr id="108" name="Text 106"/>
          <p:cNvSpPr/>
          <p:nvPr/>
        </p:nvSpPr>
        <p:spPr>
          <a:xfrm>
            <a:off x="4279392" y="4206240"/>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83.32%</a:t>
            </a:r>
            <a:endParaRPr lang="en-US" sz="950" dirty="0"/>
          </a:p>
        </p:txBody>
      </p:sp>
      <p:sp>
        <p:nvSpPr>
          <p:cNvPr id="109" name="Shape 107"/>
          <p:cNvSpPr/>
          <p:nvPr/>
        </p:nvSpPr>
        <p:spPr>
          <a:xfrm>
            <a:off x="5605272" y="4206240"/>
            <a:ext cx="1325880" cy="269748"/>
          </a:xfrm>
          <a:prstGeom prst="rect">
            <a:avLst/>
          </a:prstGeom>
          <a:solidFill>
            <a:srgbClr val="FFFFFF"/>
          </a:solidFill>
          <a:ln w="6350">
            <a:solidFill>
              <a:srgbClr val="EDE0CC"/>
            </a:solidFill>
            <a:prstDash val="solid"/>
          </a:ln>
        </p:spPr>
      </p:sp>
      <p:sp>
        <p:nvSpPr>
          <p:cNvPr id="110" name="Text 108"/>
          <p:cNvSpPr/>
          <p:nvPr/>
        </p:nvSpPr>
        <p:spPr>
          <a:xfrm>
            <a:off x="5605272" y="4206240"/>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88.73%</a:t>
            </a:r>
            <a:endParaRPr lang="en-US" sz="950" dirty="0"/>
          </a:p>
        </p:txBody>
      </p:sp>
      <p:sp>
        <p:nvSpPr>
          <p:cNvPr id="111" name="Shape 109"/>
          <p:cNvSpPr/>
          <p:nvPr/>
        </p:nvSpPr>
        <p:spPr>
          <a:xfrm>
            <a:off x="6931152" y="4206240"/>
            <a:ext cx="1325880" cy="269748"/>
          </a:xfrm>
          <a:prstGeom prst="rect">
            <a:avLst/>
          </a:prstGeom>
          <a:solidFill>
            <a:srgbClr val="FFFFFF"/>
          </a:solidFill>
          <a:ln w="6350">
            <a:solidFill>
              <a:srgbClr val="EDE0CC"/>
            </a:solidFill>
            <a:prstDash val="solid"/>
          </a:ln>
        </p:spPr>
      </p:sp>
      <p:sp>
        <p:nvSpPr>
          <p:cNvPr id="112" name="Text 110"/>
          <p:cNvSpPr/>
          <p:nvPr/>
        </p:nvSpPr>
        <p:spPr>
          <a:xfrm>
            <a:off x="6931152" y="4206240"/>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86.30%</a:t>
            </a:r>
            <a:endParaRPr lang="en-US" sz="950" dirty="0"/>
          </a:p>
        </p:txBody>
      </p:sp>
      <p:sp>
        <p:nvSpPr>
          <p:cNvPr id="113" name="Shape 111"/>
          <p:cNvSpPr/>
          <p:nvPr/>
        </p:nvSpPr>
        <p:spPr>
          <a:xfrm>
            <a:off x="347472" y="4475988"/>
            <a:ext cx="8449056" cy="201168"/>
          </a:xfrm>
          <a:prstGeom prst="rect">
            <a:avLst/>
          </a:prstGeom>
          <a:solidFill>
            <a:srgbClr val="EDE0CC"/>
          </a:solidFill>
          <a:ln w="12700">
            <a:solidFill>
              <a:srgbClr val="EDE0CC"/>
            </a:solidFill>
            <a:prstDash val="solid"/>
          </a:ln>
        </p:spPr>
      </p:sp>
      <p:sp>
        <p:nvSpPr>
          <p:cNvPr id="114" name="Text 112"/>
          <p:cNvSpPr/>
          <p:nvPr/>
        </p:nvSpPr>
        <p:spPr>
          <a:xfrm>
            <a:off x="438912" y="4475988"/>
            <a:ext cx="8229600" cy="201168"/>
          </a:xfrm>
          <a:prstGeom prst="rect">
            <a:avLst/>
          </a:prstGeom>
          <a:noFill/>
          <a:ln/>
        </p:spPr>
        <p:txBody>
          <a:bodyPr wrap="square" lIns="0" tIns="0" rIns="0" bIns="0" rtlCol="0" anchor="ctr"/>
          <a:lstStyle/>
          <a:p>
            <a:pPr marL="0" indent="0">
              <a:buNone/>
            </a:pPr>
            <a:r>
              <a:rPr lang="en-US" sz="750" b="1" dirty="0">
                <a:solidFill>
                  <a:srgbClr val="2C2C54"/>
                </a:solidFill>
                <a:latin typeface="Arial" pitchFamily="34" charset="0"/>
                <a:ea typeface="Arial" pitchFamily="34" charset="-122"/>
                <a:cs typeface="Arial" pitchFamily="34" charset="-120"/>
              </a:rPr>
              <a:t>CAPITAL ADEQUACY</a:t>
            </a:r>
            <a:endParaRPr lang="en-US" sz="750" dirty="0"/>
          </a:p>
        </p:txBody>
      </p:sp>
      <p:sp>
        <p:nvSpPr>
          <p:cNvPr id="115" name="Shape 113"/>
          <p:cNvSpPr/>
          <p:nvPr/>
        </p:nvSpPr>
        <p:spPr>
          <a:xfrm>
            <a:off x="347472" y="4677156"/>
            <a:ext cx="2606040" cy="269748"/>
          </a:xfrm>
          <a:prstGeom prst="rect">
            <a:avLst/>
          </a:prstGeom>
          <a:solidFill>
            <a:srgbClr val="FAF3E8"/>
          </a:solidFill>
          <a:ln w="6350">
            <a:solidFill>
              <a:srgbClr val="EDE0CC"/>
            </a:solidFill>
            <a:prstDash val="solid"/>
          </a:ln>
        </p:spPr>
      </p:sp>
      <p:sp>
        <p:nvSpPr>
          <p:cNvPr id="116" name="Text 114"/>
          <p:cNvSpPr/>
          <p:nvPr/>
        </p:nvSpPr>
        <p:spPr>
          <a:xfrm>
            <a:off x="420624" y="4677156"/>
            <a:ext cx="2514600" cy="26974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Tier 1 Capital Ratio</a:t>
            </a:r>
            <a:endParaRPr lang="en-US" sz="900" dirty="0"/>
          </a:p>
        </p:txBody>
      </p:sp>
      <p:sp>
        <p:nvSpPr>
          <p:cNvPr id="117" name="Shape 115"/>
          <p:cNvSpPr/>
          <p:nvPr/>
        </p:nvSpPr>
        <p:spPr>
          <a:xfrm>
            <a:off x="2953512" y="4677156"/>
            <a:ext cx="1325880" cy="269748"/>
          </a:xfrm>
          <a:prstGeom prst="rect">
            <a:avLst/>
          </a:prstGeom>
          <a:solidFill>
            <a:srgbClr val="FAF3E8"/>
          </a:solidFill>
          <a:ln w="6350">
            <a:solidFill>
              <a:srgbClr val="EDE0CC"/>
            </a:solidFill>
            <a:prstDash val="solid"/>
          </a:ln>
        </p:spPr>
      </p:sp>
      <p:sp>
        <p:nvSpPr>
          <p:cNvPr id="118" name="Text 116"/>
          <p:cNvSpPr/>
          <p:nvPr/>
        </p:nvSpPr>
        <p:spPr>
          <a:xfrm>
            <a:off x="2953512" y="4677156"/>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17.69%</a:t>
            </a:r>
            <a:endParaRPr lang="en-US" sz="950" dirty="0"/>
          </a:p>
        </p:txBody>
      </p:sp>
      <p:sp>
        <p:nvSpPr>
          <p:cNvPr id="119" name="Shape 117"/>
          <p:cNvSpPr/>
          <p:nvPr/>
        </p:nvSpPr>
        <p:spPr>
          <a:xfrm>
            <a:off x="4279392" y="4677156"/>
            <a:ext cx="1325880" cy="269748"/>
          </a:xfrm>
          <a:prstGeom prst="rect">
            <a:avLst/>
          </a:prstGeom>
          <a:solidFill>
            <a:srgbClr val="FAF3E8"/>
          </a:solidFill>
          <a:ln w="6350">
            <a:solidFill>
              <a:srgbClr val="EDE0CC"/>
            </a:solidFill>
            <a:prstDash val="solid"/>
          </a:ln>
        </p:spPr>
      </p:sp>
      <p:sp>
        <p:nvSpPr>
          <p:cNvPr id="120" name="Text 118"/>
          <p:cNvSpPr/>
          <p:nvPr/>
        </p:nvSpPr>
        <p:spPr>
          <a:xfrm>
            <a:off x="4279392" y="4677156"/>
            <a:ext cx="1325880" cy="269748"/>
          </a:xfrm>
          <a:prstGeom prst="rect">
            <a:avLst/>
          </a:prstGeom>
          <a:noFill/>
          <a:ln/>
        </p:spPr>
        <p:txBody>
          <a:bodyPr wrap="square" lIns="0" tIns="0" rIns="0" bIns="0" rtlCol="0" anchor="ctr"/>
          <a:lstStyle/>
          <a:p>
            <a:pPr marL="0" indent="0" algn="ctr">
              <a:buNone/>
            </a:pPr>
            <a:r>
              <a:rPr lang="en-US" sz="950" dirty="0">
                <a:solidFill>
                  <a:srgbClr val="3D3D3D"/>
                </a:solidFill>
                <a:latin typeface="Arial" pitchFamily="34" charset="0"/>
                <a:ea typeface="Arial" pitchFamily="34" charset="-122"/>
                <a:cs typeface="Arial" pitchFamily="34" charset="-120"/>
              </a:rPr>
              <a:t>15.94%</a:t>
            </a:r>
            <a:endParaRPr lang="en-US" sz="950" dirty="0"/>
          </a:p>
        </p:txBody>
      </p:sp>
      <p:sp>
        <p:nvSpPr>
          <p:cNvPr id="121" name="Shape 119"/>
          <p:cNvSpPr/>
          <p:nvPr/>
        </p:nvSpPr>
        <p:spPr>
          <a:xfrm>
            <a:off x="5605272" y="4677156"/>
            <a:ext cx="1325880" cy="269748"/>
          </a:xfrm>
          <a:prstGeom prst="rect">
            <a:avLst/>
          </a:prstGeom>
          <a:solidFill>
            <a:srgbClr val="FDEBD0"/>
          </a:solidFill>
          <a:ln w="6350">
            <a:solidFill>
              <a:srgbClr val="EDE0CC"/>
            </a:solidFill>
            <a:prstDash val="solid"/>
          </a:ln>
        </p:spPr>
      </p:sp>
      <p:sp>
        <p:nvSpPr>
          <p:cNvPr id="122" name="Text 120"/>
          <p:cNvSpPr/>
          <p:nvPr/>
        </p:nvSpPr>
        <p:spPr>
          <a:xfrm>
            <a:off x="5605272" y="4677156"/>
            <a:ext cx="1325880" cy="269748"/>
          </a:xfrm>
          <a:prstGeom prst="rect">
            <a:avLst/>
          </a:prstGeom>
          <a:noFill/>
          <a:ln/>
        </p:spPr>
        <p:txBody>
          <a:bodyPr wrap="square" lIns="0" tIns="0" rIns="0" bIns="0" rtlCol="0" anchor="ctr"/>
          <a:lstStyle/>
          <a:p>
            <a:pPr marL="0" indent="0" algn="ctr">
              <a:buNone/>
            </a:pPr>
            <a:r>
              <a:rPr lang="en-US" sz="950" b="1" dirty="0">
                <a:solidFill>
                  <a:srgbClr val="AE4A17"/>
                </a:solidFill>
                <a:latin typeface="Arial" pitchFamily="34" charset="0"/>
                <a:ea typeface="Arial" pitchFamily="34" charset="-122"/>
                <a:cs typeface="Arial" pitchFamily="34" charset="-120"/>
              </a:rPr>
              <a:t>15.07%</a:t>
            </a:r>
            <a:endParaRPr lang="en-US" sz="950" dirty="0"/>
          </a:p>
        </p:txBody>
      </p:sp>
      <p:sp>
        <p:nvSpPr>
          <p:cNvPr id="123" name="Shape 121"/>
          <p:cNvSpPr/>
          <p:nvPr/>
        </p:nvSpPr>
        <p:spPr>
          <a:xfrm>
            <a:off x="6931152" y="4677156"/>
            <a:ext cx="1325880" cy="269748"/>
          </a:xfrm>
          <a:prstGeom prst="rect">
            <a:avLst/>
          </a:prstGeom>
          <a:solidFill>
            <a:srgbClr val="D8F3DC"/>
          </a:solidFill>
          <a:ln w="6350">
            <a:solidFill>
              <a:srgbClr val="EDE0CC"/>
            </a:solidFill>
            <a:prstDash val="solid"/>
          </a:ln>
        </p:spPr>
      </p:sp>
      <p:sp>
        <p:nvSpPr>
          <p:cNvPr id="124" name="Text 122"/>
          <p:cNvSpPr/>
          <p:nvPr/>
        </p:nvSpPr>
        <p:spPr>
          <a:xfrm>
            <a:off x="6931152" y="4677156"/>
            <a:ext cx="1325880" cy="269748"/>
          </a:xfrm>
          <a:prstGeom prst="rect">
            <a:avLst/>
          </a:prstGeom>
          <a:noFill/>
          <a:ln/>
        </p:spPr>
        <p:txBody>
          <a:bodyPr wrap="square" lIns="0" tIns="0" rIns="0" bIns="0" rtlCol="0" anchor="ctr"/>
          <a:lstStyle/>
          <a:p>
            <a:pPr marL="0" indent="0" algn="ctr">
              <a:buNone/>
            </a:pPr>
            <a:r>
              <a:rPr lang="en-US" sz="950" b="1" dirty="0">
                <a:solidFill>
                  <a:srgbClr val="2D6A4F"/>
                </a:solidFill>
                <a:latin typeface="Arial" pitchFamily="34" charset="0"/>
                <a:ea typeface="Arial" pitchFamily="34" charset="-122"/>
                <a:cs typeface="Arial" pitchFamily="34" charset="-120"/>
              </a:rPr>
              <a:t>21.10%</a:t>
            </a:r>
            <a:endParaRPr lang="en-US" sz="950" dirty="0"/>
          </a:p>
        </p:txBody>
      </p:sp>
      <p:sp>
        <p:nvSpPr>
          <p:cNvPr id="125" name="Text 123"/>
          <p:cNvSpPr/>
          <p:nvPr/>
        </p:nvSpPr>
        <p:spPr>
          <a:xfrm>
            <a:off x="347472" y="4919472"/>
            <a:ext cx="8412480" cy="164592"/>
          </a:xfrm>
          <a:prstGeom prst="rect">
            <a:avLst/>
          </a:prstGeom>
          <a:noFill/>
          <a:ln/>
        </p:spPr>
        <p:txBody>
          <a:bodyPr wrap="square" lIns="0" tIns="0" rIns="0" bIns="0" rtlCol="0" anchor="ctr"/>
          <a:lstStyle/>
          <a:p>
            <a:pPr marL="0" indent="0">
              <a:buNone/>
            </a:pPr>
            <a:r>
              <a:rPr lang="en-US" sz="750" dirty="0">
                <a:solidFill>
                  <a:srgbClr val="7A7A8A"/>
                </a:solidFill>
                <a:latin typeface="Arial" pitchFamily="34" charset="0"/>
                <a:ea typeface="Arial" pitchFamily="34" charset="-122"/>
                <a:cs typeface="Arial" pitchFamily="34" charset="-120"/>
              </a:rPr>
              <a:t>All ratios calculated from FY2025 Annual Reports  ·  Akanksha Giri  ·  June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2C2C54"/>
          </a:solidFill>
          <a:ln w="12700">
            <a:solidFill>
              <a:srgbClr val="2C2C54"/>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PROFITABILITY &amp; EFFICIENCY</a:t>
            </a:r>
            <a:endParaRPr lang="en-US" sz="2200" dirty="0"/>
          </a:p>
        </p:txBody>
      </p:sp>
      <p:sp>
        <p:nvSpPr>
          <p:cNvPr id="4" name="Shape 2"/>
          <p:cNvSpPr/>
          <p:nvPr/>
        </p:nvSpPr>
        <p:spPr>
          <a:xfrm>
            <a:off x="365760" y="1051560"/>
            <a:ext cx="4069080" cy="3566160"/>
          </a:xfrm>
          <a:prstGeom prst="roundRect">
            <a:avLst>
              <a:gd name="adj" fmla="val 2564"/>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5" name="Image 0" descr="preencoded.png"/>
          <p:cNvPicPr>
            <a:picLocks noChangeAspect="1"/>
          </p:cNvPicPr>
          <p:nvPr/>
        </p:nvPicPr>
        <p:blipFill>
          <a:blip r:embed="rId3"/>
          <a:stretch>
            <a:fillRect/>
          </a:stretch>
        </p:blipFill>
        <p:spPr>
          <a:xfrm>
            <a:off x="566928" y="1207008"/>
            <a:ext cx="347472" cy="347472"/>
          </a:xfrm>
          <a:prstGeom prst="rect">
            <a:avLst/>
          </a:prstGeom>
        </p:spPr>
      </p:pic>
      <p:sp>
        <p:nvSpPr>
          <p:cNvPr id="6" name="Text 3"/>
          <p:cNvSpPr/>
          <p:nvPr/>
        </p:nvSpPr>
        <p:spPr>
          <a:xfrm>
            <a:off x="1005840" y="1216152"/>
            <a:ext cx="3108960" cy="329184"/>
          </a:xfrm>
          <a:prstGeom prst="rect">
            <a:avLst/>
          </a:prstGeom>
          <a:noFill/>
          <a:ln/>
        </p:spPr>
        <p:txBody>
          <a:bodyPr wrap="square" lIns="0" tIns="0" rIns="0" bIns="0" rtlCol="0" anchor="ctr"/>
          <a:lstStyle/>
          <a:p>
            <a:pPr marL="0" indent="0">
              <a:buNone/>
            </a:pPr>
            <a:r>
              <a:rPr lang="en-US" sz="1100" b="1" kern="0" spc="100" dirty="0">
                <a:solidFill>
                  <a:srgbClr val="A3491A"/>
                </a:solidFill>
                <a:latin typeface="Arial" pitchFamily="34" charset="0"/>
                <a:ea typeface="Arial" pitchFamily="34" charset="-122"/>
                <a:cs typeface="Arial" pitchFamily="34" charset="-120"/>
              </a:rPr>
              <a:t>PROFITABILITY</a:t>
            </a:r>
            <a:endParaRPr lang="en-US" sz="1100" dirty="0"/>
          </a:p>
        </p:txBody>
      </p:sp>
      <p:sp>
        <p:nvSpPr>
          <p:cNvPr id="7" name="Shape 4"/>
          <p:cNvSpPr/>
          <p:nvPr/>
        </p:nvSpPr>
        <p:spPr>
          <a:xfrm>
            <a:off x="530352" y="1719072"/>
            <a:ext cx="128016" cy="128016"/>
          </a:xfrm>
          <a:prstGeom prst="ellipse">
            <a:avLst/>
          </a:prstGeom>
          <a:solidFill>
            <a:srgbClr val="A3491A"/>
          </a:solidFill>
          <a:ln w="12700">
            <a:solidFill>
              <a:srgbClr val="A3491A"/>
            </a:solidFill>
            <a:prstDash val="solid"/>
          </a:ln>
        </p:spPr>
      </p:sp>
      <p:sp>
        <p:nvSpPr>
          <p:cNvPr id="8" name="Text 5"/>
          <p:cNvSpPr/>
          <p:nvPr/>
        </p:nvSpPr>
        <p:spPr>
          <a:xfrm>
            <a:off x="749808" y="166420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ICICI leads RoE at 16.17%</a:t>
            </a:r>
            <a:endParaRPr lang="en-US" sz="1000" dirty="0"/>
          </a:p>
        </p:txBody>
      </p:sp>
      <p:sp>
        <p:nvSpPr>
          <p:cNvPr id="9" name="Text 6"/>
          <p:cNvSpPr/>
          <p:nvPr/>
        </p:nvSpPr>
        <p:spPr>
          <a:xfrm>
            <a:off x="749808" y="193852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HDFC at 13.43% is second-lowest. ICICI's leaner equity base drives higher shareholder returns.</a:t>
            </a:r>
            <a:endParaRPr lang="en-US" sz="900" dirty="0"/>
          </a:p>
        </p:txBody>
      </p:sp>
      <p:sp>
        <p:nvSpPr>
          <p:cNvPr id="10" name="Shape 7"/>
          <p:cNvSpPr/>
          <p:nvPr/>
        </p:nvSpPr>
        <p:spPr>
          <a:xfrm>
            <a:off x="530352" y="2679192"/>
            <a:ext cx="128016" cy="128016"/>
          </a:xfrm>
          <a:prstGeom prst="ellipse">
            <a:avLst/>
          </a:prstGeom>
          <a:solidFill>
            <a:srgbClr val="A3491A"/>
          </a:solidFill>
          <a:ln w="12700">
            <a:solidFill>
              <a:srgbClr val="A3491A"/>
            </a:solidFill>
            <a:prstDash val="solid"/>
          </a:ln>
        </p:spPr>
      </p:sp>
      <p:sp>
        <p:nvSpPr>
          <p:cNvPr id="11" name="Text 8"/>
          <p:cNvSpPr/>
          <p:nvPr/>
        </p:nvSpPr>
        <p:spPr>
          <a:xfrm>
            <a:off x="749808" y="262432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Kotak leads NIM at 4.96%</a:t>
            </a:r>
            <a:endParaRPr lang="en-US" sz="1000" dirty="0"/>
          </a:p>
        </p:txBody>
      </p:sp>
      <p:sp>
        <p:nvSpPr>
          <p:cNvPr id="12" name="Text 9"/>
          <p:cNvSpPr/>
          <p:nvPr/>
        </p:nvSpPr>
        <p:spPr>
          <a:xfrm>
            <a:off x="749808" y="289864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HDFC's NIM of 3.48% is the lowest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reflecting its large wholesale loan book.</a:t>
            </a:r>
            <a:endParaRPr lang="en-US" sz="900" dirty="0"/>
          </a:p>
        </p:txBody>
      </p:sp>
      <p:sp>
        <p:nvSpPr>
          <p:cNvPr id="13" name="Shape 10"/>
          <p:cNvSpPr/>
          <p:nvPr/>
        </p:nvSpPr>
        <p:spPr>
          <a:xfrm>
            <a:off x="530352" y="3639312"/>
            <a:ext cx="128016" cy="128016"/>
          </a:xfrm>
          <a:prstGeom prst="ellipse">
            <a:avLst/>
          </a:prstGeom>
          <a:solidFill>
            <a:srgbClr val="A3491A"/>
          </a:solidFill>
          <a:ln w="12700">
            <a:solidFill>
              <a:srgbClr val="A3491A"/>
            </a:solidFill>
            <a:prstDash val="solid"/>
          </a:ln>
        </p:spPr>
      </p:sp>
      <p:sp>
        <p:nvSpPr>
          <p:cNvPr id="14" name="Text 11"/>
          <p:cNvSpPr/>
          <p:nvPr/>
        </p:nvSpPr>
        <p:spPr>
          <a:xfrm>
            <a:off x="749808" y="358444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ICICI leads RoA at 2.23%</a:t>
            </a:r>
            <a:endParaRPr lang="en-US" sz="1000" dirty="0"/>
          </a:p>
        </p:txBody>
      </p:sp>
      <p:sp>
        <p:nvSpPr>
          <p:cNvPr id="15" name="Text 12"/>
          <p:cNvSpPr/>
          <p:nvPr/>
        </p:nvSpPr>
        <p:spPr>
          <a:xfrm>
            <a:off x="749808" y="385876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HDFC (1.72%) and Axis (1.64%) lag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Kotak (1.87%) is a close second.</a:t>
            </a:r>
            <a:endParaRPr lang="en-US" sz="900" dirty="0"/>
          </a:p>
        </p:txBody>
      </p:sp>
      <p:sp>
        <p:nvSpPr>
          <p:cNvPr id="16" name="Shape 13"/>
          <p:cNvSpPr/>
          <p:nvPr/>
        </p:nvSpPr>
        <p:spPr>
          <a:xfrm>
            <a:off x="4709160" y="1051560"/>
            <a:ext cx="4069080" cy="3566160"/>
          </a:xfrm>
          <a:prstGeom prst="roundRect">
            <a:avLst>
              <a:gd name="adj" fmla="val 2564"/>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17" name="Image 1" descr="preencoded.png"/>
          <p:cNvPicPr>
            <a:picLocks noChangeAspect="1"/>
          </p:cNvPicPr>
          <p:nvPr/>
        </p:nvPicPr>
        <p:blipFill>
          <a:blip r:embed="rId4"/>
          <a:stretch>
            <a:fillRect/>
          </a:stretch>
        </p:blipFill>
        <p:spPr>
          <a:xfrm>
            <a:off x="4910328" y="1207008"/>
            <a:ext cx="347472" cy="347472"/>
          </a:xfrm>
          <a:prstGeom prst="rect">
            <a:avLst/>
          </a:prstGeom>
        </p:spPr>
      </p:pic>
      <p:sp>
        <p:nvSpPr>
          <p:cNvPr id="18" name="Text 14"/>
          <p:cNvSpPr/>
          <p:nvPr/>
        </p:nvSpPr>
        <p:spPr>
          <a:xfrm>
            <a:off x="5349240" y="1216152"/>
            <a:ext cx="3108960" cy="329184"/>
          </a:xfrm>
          <a:prstGeom prst="rect">
            <a:avLst/>
          </a:prstGeom>
          <a:noFill/>
          <a:ln/>
        </p:spPr>
        <p:txBody>
          <a:bodyPr wrap="square" lIns="0" tIns="0" rIns="0" bIns="0" rtlCol="0" anchor="ctr"/>
          <a:lstStyle/>
          <a:p>
            <a:pPr marL="0" indent="0">
              <a:buNone/>
            </a:pPr>
            <a:r>
              <a:rPr lang="en-US" sz="1100" b="1" kern="0" spc="100" dirty="0">
                <a:solidFill>
                  <a:srgbClr val="A3491A"/>
                </a:solidFill>
                <a:latin typeface="Arial" pitchFamily="34" charset="0"/>
                <a:ea typeface="Arial" pitchFamily="34" charset="-122"/>
                <a:cs typeface="Arial" pitchFamily="34" charset="-120"/>
              </a:rPr>
              <a:t>EFFICIENCY</a:t>
            </a:r>
            <a:endParaRPr lang="en-US" sz="1100" dirty="0"/>
          </a:p>
        </p:txBody>
      </p:sp>
      <p:sp>
        <p:nvSpPr>
          <p:cNvPr id="19" name="Shape 15"/>
          <p:cNvSpPr/>
          <p:nvPr/>
        </p:nvSpPr>
        <p:spPr>
          <a:xfrm>
            <a:off x="4873752" y="1719072"/>
            <a:ext cx="128016" cy="128016"/>
          </a:xfrm>
          <a:prstGeom prst="ellipse">
            <a:avLst/>
          </a:prstGeom>
          <a:solidFill>
            <a:srgbClr val="A3491A"/>
          </a:solidFill>
          <a:ln w="12700">
            <a:solidFill>
              <a:srgbClr val="A3491A"/>
            </a:solidFill>
            <a:prstDash val="solid"/>
          </a:ln>
        </p:spPr>
      </p:sp>
      <p:sp>
        <p:nvSpPr>
          <p:cNvPr id="20" name="Text 16"/>
          <p:cNvSpPr/>
          <p:nvPr/>
        </p:nvSpPr>
        <p:spPr>
          <a:xfrm>
            <a:off x="5093208" y="166420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ICICI is the efficiency benchmark</a:t>
            </a:r>
            <a:endParaRPr lang="en-US" sz="1000" dirty="0"/>
          </a:p>
        </p:txBody>
      </p:sp>
      <p:sp>
        <p:nvSpPr>
          <p:cNvPr id="21" name="Text 17"/>
          <p:cNvSpPr/>
          <p:nvPr/>
        </p:nvSpPr>
        <p:spPr>
          <a:xfrm>
            <a:off x="5093208" y="193852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CIR of 38.64%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best in the group. HDFC at 40.51% is a creditable second. Axis at 47.11% is the clear laggard.</a:t>
            </a:r>
            <a:endParaRPr lang="en-US" sz="900" dirty="0"/>
          </a:p>
        </p:txBody>
      </p:sp>
      <p:sp>
        <p:nvSpPr>
          <p:cNvPr id="22" name="Shape 18"/>
          <p:cNvSpPr/>
          <p:nvPr/>
        </p:nvSpPr>
        <p:spPr>
          <a:xfrm>
            <a:off x="4873752" y="2679192"/>
            <a:ext cx="128016" cy="128016"/>
          </a:xfrm>
          <a:prstGeom prst="ellipse">
            <a:avLst/>
          </a:prstGeom>
          <a:solidFill>
            <a:srgbClr val="A3491A"/>
          </a:solidFill>
          <a:ln w="12700">
            <a:solidFill>
              <a:srgbClr val="A3491A"/>
            </a:solidFill>
            <a:prstDash val="solid"/>
          </a:ln>
        </p:spPr>
      </p:sp>
      <p:sp>
        <p:nvSpPr>
          <p:cNvPr id="23" name="Text 19"/>
          <p:cNvSpPr/>
          <p:nvPr/>
        </p:nvSpPr>
        <p:spPr>
          <a:xfrm>
            <a:off x="5093208" y="262432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Cost per branch: ICICI leads</a:t>
            </a:r>
            <a:endParaRPr lang="en-US" sz="1000" dirty="0"/>
          </a:p>
        </p:txBody>
      </p:sp>
      <p:sp>
        <p:nvSpPr>
          <p:cNvPr id="24" name="Text 20"/>
          <p:cNvSpPr/>
          <p:nvPr/>
        </p:nvSpPr>
        <p:spPr>
          <a:xfrm>
            <a:off x="5093208" y="289864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ICICI spends Rs 6.07 Cr per branch. Kotak at Rs 8.74 Cr is the least efficient branch network.</a:t>
            </a:r>
            <a:endParaRPr lang="en-US" sz="900" dirty="0"/>
          </a:p>
        </p:txBody>
      </p:sp>
      <p:sp>
        <p:nvSpPr>
          <p:cNvPr id="25" name="Shape 21"/>
          <p:cNvSpPr/>
          <p:nvPr/>
        </p:nvSpPr>
        <p:spPr>
          <a:xfrm>
            <a:off x="4873752" y="3639312"/>
            <a:ext cx="128016" cy="128016"/>
          </a:xfrm>
          <a:prstGeom prst="ellipse">
            <a:avLst/>
          </a:prstGeom>
          <a:solidFill>
            <a:srgbClr val="A3491A"/>
          </a:solidFill>
          <a:ln w="12700">
            <a:solidFill>
              <a:srgbClr val="A3491A"/>
            </a:solidFill>
            <a:prstDash val="solid"/>
          </a:ln>
        </p:spPr>
      </p:sp>
      <p:sp>
        <p:nvSpPr>
          <p:cNvPr id="26" name="Text 22"/>
          <p:cNvSpPr/>
          <p:nvPr/>
        </p:nvSpPr>
        <p:spPr>
          <a:xfrm>
            <a:off x="5093208" y="358444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HDFC's efficiency is improving</a:t>
            </a:r>
            <a:endParaRPr lang="en-US" sz="1000" dirty="0"/>
          </a:p>
        </p:txBody>
      </p:sp>
      <p:sp>
        <p:nvSpPr>
          <p:cNvPr id="27" name="Text 23"/>
          <p:cNvSpPr/>
          <p:nvPr/>
        </p:nvSpPr>
        <p:spPr>
          <a:xfrm>
            <a:off x="5093208" y="385876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HDFC sits between ICICI (best) and Axis (worst)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the gap to close is ~180bps on CIR.</a:t>
            </a:r>
            <a:endParaRPr lang="en-US" sz="900" dirty="0"/>
          </a:p>
        </p:txBody>
      </p:sp>
      <p:sp>
        <p:nvSpPr>
          <p:cNvPr id="28" name="Text 24"/>
          <p:cNvSpPr/>
          <p:nvPr/>
        </p:nvSpPr>
        <p:spPr>
          <a:xfrm>
            <a:off x="365760" y="4873752"/>
            <a:ext cx="8412480" cy="182880"/>
          </a:xfrm>
          <a:prstGeom prst="rect">
            <a:avLst/>
          </a:prstGeom>
          <a:noFill/>
          <a:ln/>
        </p:spPr>
        <p:txBody>
          <a:bodyPr wrap="square" lIns="0" tIns="0" rIns="0" bIns="0" rtlCol="0" anchor="ctr"/>
          <a:lstStyle/>
          <a:p>
            <a:pPr marL="0" indent="0">
              <a:buNone/>
            </a:pPr>
            <a:r>
              <a:rPr lang="en-US" sz="750" dirty="0">
                <a:solidFill>
                  <a:srgbClr val="7A7A8A"/>
                </a:solidFill>
                <a:latin typeface="Arial" pitchFamily="34" charset="0"/>
                <a:ea typeface="Arial" pitchFamily="34" charset="-122"/>
                <a:cs typeface="Arial" pitchFamily="34" charset="-120"/>
              </a:rPr>
              <a:t>Data: FY2025 Annual Reports  ·  Akanksha Giri</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2C2C54"/>
          </a:solidFill>
          <a:ln w="12700">
            <a:solidFill>
              <a:srgbClr val="2C2C54"/>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ASSET QUALITY &amp; FUNDING</a:t>
            </a:r>
            <a:endParaRPr lang="en-US" sz="2200" dirty="0"/>
          </a:p>
        </p:txBody>
      </p:sp>
      <p:sp>
        <p:nvSpPr>
          <p:cNvPr id="4" name="Shape 2"/>
          <p:cNvSpPr/>
          <p:nvPr/>
        </p:nvSpPr>
        <p:spPr>
          <a:xfrm>
            <a:off x="365760" y="1051560"/>
            <a:ext cx="4069080" cy="2423160"/>
          </a:xfrm>
          <a:prstGeom prst="roundRect">
            <a:avLst>
              <a:gd name="adj" fmla="val 3774"/>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5" name="Image 0" descr="preencoded.png"/>
          <p:cNvPicPr>
            <a:picLocks noChangeAspect="1"/>
          </p:cNvPicPr>
          <p:nvPr/>
        </p:nvPicPr>
        <p:blipFill>
          <a:blip r:embed="rId3"/>
          <a:stretch>
            <a:fillRect/>
          </a:stretch>
        </p:blipFill>
        <p:spPr>
          <a:xfrm>
            <a:off x="566928" y="1207008"/>
            <a:ext cx="347472" cy="347472"/>
          </a:xfrm>
          <a:prstGeom prst="rect">
            <a:avLst/>
          </a:prstGeom>
        </p:spPr>
      </p:pic>
      <p:sp>
        <p:nvSpPr>
          <p:cNvPr id="6" name="Text 3"/>
          <p:cNvSpPr/>
          <p:nvPr/>
        </p:nvSpPr>
        <p:spPr>
          <a:xfrm>
            <a:off x="1005840" y="1216152"/>
            <a:ext cx="3108960" cy="329184"/>
          </a:xfrm>
          <a:prstGeom prst="rect">
            <a:avLst/>
          </a:prstGeom>
          <a:noFill/>
          <a:ln/>
        </p:spPr>
        <p:txBody>
          <a:bodyPr wrap="square" lIns="0" tIns="0" rIns="0" bIns="0" rtlCol="0" anchor="ctr"/>
          <a:lstStyle/>
          <a:p>
            <a:pPr marL="0" indent="0">
              <a:buNone/>
            </a:pPr>
            <a:r>
              <a:rPr lang="en-US" sz="1100" b="1" kern="0" spc="100" dirty="0">
                <a:solidFill>
                  <a:srgbClr val="A3491A"/>
                </a:solidFill>
                <a:latin typeface="Arial" pitchFamily="34" charset="0"/>
                <a:ea typeface="Arial" pitchFamily="34" charset="-122"/>
                <a:cs typeface="Arial" pitchFamily="34" charset="-120"/>
              </a:rPr>
              <a:t>ASSET QUALITY</a:t>
            </a:r>
            <a:endParaRPr lang="en-US" sz="1100" dirty="0"/>
          </a:p>
        </p:txBody>
      </p:sp>
      <p:sp>
        <p:nvSpPr>
          <p:cNvPr id="7" name="Shape 4"/>
          <p:cNvSpPr/>
          <p:nvPr/>
        </p:nvSpPr>
        <p:spPr>
          <a:xfrm>
            <a:off x="530352" y="1719072"/>
            <a:ext cx="128016" cy="128016"/>
          </a:xfrm>
          <a:prstGeom prst="ellipse">
            <a:avLst/>
          </a:prstGeom>
          <a:solidFill>
            <a:srgbClr val="A3491A"/>
          </a:solidFill>
          <a:ln w="12700">
            <a:solidFill>
              <a:srgbClr val="A3491A"/>
            </a:solidFill>
            <a:prstDash val="solid"/>
          </a:ln>
        </p:spPr>
      </p:sp>
      <p:sp>
        <p:nvSpPr>
          <p:cNvPr id="8" name="Text 5"/>
          <p:cNvSpPr/>
          <p:nvPr/>
        </p:nvSpPr>
        <p:spPr>
          <a:xfrm>
            <a:off x="749808" y="166420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Axis has the cleanest book</a:t>
            </a:r>
            <a:endParaRPr lang="en-US" sz="1000" dirty="0"/>
          </a:p>
        </p:txBody>
      </p:sp>
      <p:sp>
        <p:nvSpPr>
          <p:cNvPr id="9" name="Text 6"/>
          <p:cNvSpPr/>
          <p:nvPr/>
        </p:nvSpPr>
        <p:spPr>
          <a:xfrm>
            <a:off x="749808" y="193852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Gross NPA of 1.28% and Net NPA of 0.33%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best in the peer group. HDFC close behind at 1.33%.</a:t>
            </a:r>
            <a:endParaRPr lang="en-US" sz="900" dirty="0"/>
          </a:p>
        </p:txBody>
      </p:sp>
      <p:sp>
        <p:nvSpPr>
          <p:cNvPr id="10" name="Shape 7"/>
          <p:cNvSpPr/>
          <p:nvPr/>
        </p:nvSpPr>
        <p:spPr>
          <a:xfrm>
            <a:off x="530352" y="2651760"/>
            <a:ext cx="128016" cy="128016"/>
          </a:xfrm>
          <a:prstGeom prst="ellipse">
            <a:avLst/>
          </a:prstGeom>
          <a:solidFill>
            <a:srgbClr val="A3491A"/>
          </a:solidFill>
          <a:ln w="12700">
            <a:solidFill>
              <a:srgbClr val="A3491A"/>
            </a:solidFill>
            <a:prstDash val="solid"/>
          </a:ln>
        </p:spPr>
      </p:sp>
      <p:sp>
        <p:nvSpPr>
          <p:cNvPr id="11" name="Text 8"/>
          <p:cNvSpPr/>
          <p:nvPr/>
        </p:nvSpPr>
        <p:spPr>
          <a:xfrm>
            <a:off x="749808" y="2596896"/>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ICICI carries the highest NPA</a:t>
            </a:r>
            <a:endParaRPr lang="en-US" sz="1000" dirty="0"/>
          </a:p>
        </p:txBody>
      </p:sp>
      <p:sp>
        <p:nvSpPr>
          <p:cNvPr id="12" name="Text 9"/>
          <p:cNvSpPr/>
          <p:nvPr/>
        </p:nvSpPr>
        <p:spPr>
          <a:xfrm>
            <a:off x="749808" y="2871216"/>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Gross NPA at 1.73%. Indicative of its more aggressive lending strategy.</a:t>
            </a:r>
            <a:endParaRPr lang="en-US" sz="900" dirty="0"/>
          </a:p>
        </p:txBody>
      </p:sp>
      <p:sp>
        <p:nvSpPr>
          <p:cNvPr id="13" name="Shape 10"/>
          <p:cNvSpPr/>
          <p:nvPr/>
        </p:nvSpPr>
        <p:spPr>
          <a:xfrm>
            <a:off x="4709160" y="1051560"/>
            <a:ext cx="4069080" cy="2423160"/>
          </a:xfrm>
          <a:prstGeom prst="roundRect">
            <a:avLst>
              <a:gd name="adj" fmla="val 3774"/>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14" name="Image 1" descr="preencoded.png"/>
          <p:cNvPicPr>
            <a:picLocks noChangeAspect="1"/>
          </p:cNvPicPr>
          <p:nvPr/>
        </p:nvPicPr>
        <p:blipFill>
          <a:blip r:embed="rId4"/>
          <a:stretch>
            <a:fillRect/>
          </a:stretch>
        </p:blipFill>
        <p:spPr>
          <a:xfrm>
            <a:off x="4910328" y="1207008"/>
            <a:ext cx="347472" cy="347472"/>
          </a:xfrm>
          <a:prstGeom prst="rect">
            <a:avLst/>
          </a:prstGeom>
        </p:spPr>
      </p:pic>
      <p:sp>
        <p:nvSpPr>
          <p:cNvPr id="15" name="Text 11"/>
          <p:cNvSpPr/>
          <p:nvPr/>
        </p:nvSpPr>
        <p:spPr>
          <a:xfrm>
            <a:off x="5349240" y="1216152"/>
            <a:ext cx="3200400" cy="329184"/>
          </a:xfrm>
          <a:prstGeom prst="rect">
            <a:avLst/>
          </a:prstGeom>
          <a:noFill/>
          <a:ln/>
        </p:spPr>
        <p:txBody>
          <a:bodyPr wrap="square" lIns="0" tIns="0" rIns="0" bIns="0" rtlCol="0" anchor="ctr"/>
          <a:lstStyle/>
          <a:p>
            <a:pPr marL="0" indent="0">
              <a:buNone/>
            </a:pPr>
            <a:r>
              <a:rPr lang="en-US" sz="1100" b="1" kern="0" spc="100" dirty="0">
                <a:solidFill>
                  <a:srgbClr val="A3491A"/>
                </a:solidFill>
                <a:latin typeface="Arial" pitchFamily="34" charset="0"/>
                <a:ea typeface="Arial" pitchFamily="34" charset="-122"/>
                <a:cs typeface="Arial" pitchFamily="34" charset="-120"/>
              </a:rPr>
              <a:t>LIQUIDITY &amp; FUNDING</a:t>
            </a:r>
            <a:endParaRPr lang="en-US" sz="1100" dirty="0"/>
          </a:p>
        </p:txBody>
      </p:sp>
      <p:sp>
        <p:nvSpPr>
          <p:cNvPr id="16" name="Shape 12"/>
          <p:cNvSpPr/>
          <p:nvPr/>
        </p:nvSpPr>
        <p:spPr>
          <a:xfrm>
            <a:off x="4873752" y="1719072"/>
            <a:ext cx="128016" cy="128016"/>
          </a:xfrm>
          <a:prstGeom prst="ellipse">
            <a:avLst/>
          </a:prstGeom>
          <a:solidFill>
            <a:srgbClr val="A3491A"/>
          </a:solidFill>
          <a:ln w="12700">
            <a:solidFill>
              <a:srgbClr val="A3491A"/>
            </a:solidFill>
            <a:prstDash val="solid"/>
          </a:ln>
        </p:spPr>
      </p:sp>
      <p:sp>
        <p:nvSpPr>
          <p:cNvPr id="17" name="Text 13"/>
          <p:cNvSpPr/>
          <p:nvPr/>
        </p:nvSpPr>
        <p:spPr>
          <a:xfrm>
            <a:off x="5093208" y="1664208"/>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HDFC has the lowest CASA</a:t>
            </a:r>
            <a:endParaRPr lang="en-US" sz="1000" dirty="0"/>
          </a:p>
        </p:txBody>
      </p:sp>
      <p:sp>
        <p:nvSpPr>
          <p:cNvPr id="18" name="Text 14"/>
          <p:cNvSpPr/>
          <p:nvPr/>
        </p:nvSpPr>
        <p:spPr>
          <a:xfrm>
            <a:off x="5093208" y="1938528"/>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At 34.80%, HDFC's low-cost deposit base is the weakest in the group. Kotak leads at 43.34%.</a:t>
            </a:r>
            <a:endParaRPr lang="en-US" sz="900" dirty="0"/>
          </a:p>
        </p:txBody>
      </p:sp>
      <p:sp>
        <p:nvSpPr>
          <p:cNvPr id="19" name="Shape 15"/>
          <p:cNvSpPr/>
          <p:nvPr/>
        </p:nvSpPr>
        <p:spPr>
          <a:xfrm>
            <a:off x="4873752" y="2651760"/>
            <a:ext cx="128016" cy="128016"/>
          </a:xfrm>
          <a:prstGeom prst="ellipse">
            <a:avLst/>
          </a:prstGeom>
          <a:solidFill>
            <a:srgbClr val="A3491A"/>
          </a:solidFill>
          <a:ln w="12700">
            <a:solidFill>
              <a:srgbClr val="A3491A"/>
            </a:solidFill>
            <a:prstDash val="solid"/>
          </a:ln>
        </p:spPr>
      </p:sp>
      <p:sp>
        <p:nvSpPr>
          <p:cNvPr id="20" name="Text 16"/>
          <p:cNvSpPr/>
          <p:nvPr/>
        </p:nvSpPr>
        <p:spPr>
          <a:xfrm>
            <a:off x="5093208" y="2596896"/>
            <a:ext cx="3474720" cy="256032"/>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HDFC most stretched on lending</a:t>
            </a:r>
            <a:endParaRPr lang="en-US" sz="1000" dirty="0"/>
          </a:p>
        </p:txBody>
      </p:sp>
      <p:sp>
        <p:nvSpPr>
          <p:cNvPr id="21" name="Text 17"/>
          <p:cNvSpPr/>
          <p:nvPr/>
        </p:nvSpPr>
        <p:spPr>
          <a:xfrm>
            <a:off x="5093208" y="2871216"/>
            <a:ext cx="347472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CD ratio of 96.50%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highest among peers. ICICI at 83.32% has the most liquidity headroom.</a:t>
            </a:r>
            <a:endParaRPr lang="en-US" sz="900" dirty="0"/>
          </a:p>
        </p:txBody>
      </p:sp>
      <p:sp>
        <p:nvSpPr>
          <p:cNvPr id="22" name="Shape 18"/>
          <p:cNvSpPr/>
          <p:nvPr/>
        </p:nvSpPr>
        <p:spPr>
          <a:xfrm>
            <a:off x="365760" y="3639312"/>
            <a:ext cx="8412480" cy="1005840"/>
          </a:xfrm>
          <a:prstGeom prst="roundRect">
            <a:avLst>
              <a:gd name="adj" fmla="val 9091"/>
            </a:avLst>
          </a:prstGeom>
          <a:solidFill>
            <a:srgbClr val="FFFFFF"/>
          </a:solidFill>
          <a:ln w="12700">
            <a:solidFill>
              <a:srgbClr val="EDE0CC"/>
            </a:solidFill>
            <a:prstDash val="solid"/>
          </a:ln>
          <a:effectLst>
            <a:outerShdw blurRad="101600" dist="38100" dir="2700000" algn="bl" rotWithShape="0">
              <a:srgbClr val="000000">
                <a:alpha val="10000"/>
              </a:srgbClr>
            </a:outerShdw>
          </a:effectLst>
        </p:spPr>
      </p:sp>
      <p:pic>
        <p:nvPicPr>
          <p:cNvPr id="23" name="Image 2" descr="preencoded.png"/>
          <p:cNvPicPr>
            <a:picLocks noChangeAspect="1"/>
          </p:cNvPicPr>
          <p:nvPr/>
        </p:nvPicPr>
        <p:blipFill>
          <a:blip r:embed="rId5"/>
          <a:stretch>
            <a:fillRect/>
          </a:stretch>
        </p:blipFill>
        <p:spPr>
          <a:xfrm>
            <a:off x="566928" y="3767328"/>
            <a:ext cx="329184" cy="329184"/>
          </a:xfrm>
          <a:prstGeom prst="rect">
            <a:avLst/>
          </a:prstGeom>
        </p:spPr>
      </p:pic>
      <p:sp>
        <p:nvSpPr>
          <p:cNvPr id="24" name="Text 19"/>
          <p:cNvSpPr/>
          <p:nvPr/>
        </p:nvSpPr>
        <p:spPr>
          <a:xfrm>
            <a:off x="1005840" y="3712464"/>
            <a:ext cx="3200400" cy="256032"/>
          </a:xfrm>
          <a:prstGeom prst="rect">
            <a:avLst/>
          </a:prstGeom>
          <a:noFill/>
          <a:ln/>
        </p:spPr>
        <p:txBody>
          <a:bodyPr wrap="square" lIns="0" tIns="0" rIns="0" bIns="0" rtlCol="0" anchor="ctr"/>
          <a:lstStyle/>
          <a:p>
            <a:pPr marL="0" indent="0">
              <a:buNone/>
            </a:pPr>
            <a:r>
              <a:rPr lang="en-US" sz="1100" b="1" kern="0" spc="100" dirty="0">
                <a:solidFill>
                  <a:srgbClr val="A3491A"/>
                </a:solidFill>
                <a:latin typeface="Arial" pitchFamily="34" charset="0"/>
                <a:ea typeface="Arial" pitchFamily="34" charset="-122"/>
                <a:cs typeface="Arial" pitchFamily="34" charset="-120"/>
              </a:rPr>
              <a:t>CAPITAL ADEQUACY</a:t>
            </a:r>
            <a:endParaRPr lang="en-US" sz="1100" dirty="0"/>
          </a:p>
        </p:txBody>
      </p:sp>
      <p:sp>
        <p:nvSpPr>
          <p:cNvPr id="25" name="Text 20"/>
          <p:cNvSpPr/>
          <p:nvPr/>
        </p:nvSpPr>
        <p:spPr>
          <a:xfrm>
            <a:off x="1005840" y="4005072"/>
            <a:ext cx="3474720" cy="237744"/>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Kotak leads Tier 1 at 21.10%</a:t>
            </a:r>
            <a:endParaRPr lang="en-US" sz="1000" dirty="0"/>
          </a:p>
        </p:txBody>
      </p:sp>
      <p:sp>
        <p:nvSpPr>
          <p:cNvPr id="26" name="Text 21"/>
          <p:cNvSpPr/>
          <p:nvPr/>
        </p:nvSpPr>
        <p:spPr>
          <a:xfrm>
            <a:off x="1005840" y="4261104"/>
            <a:ext cx="3474720" cy="274320"/>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Axis is the weakest at 15.07%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meaningful gap if credit conditions tighten.</a:t>
            </a:r>
            <a:endParaRPr lang="en-US" sz="900" dirty="0"/>
          </a:p>
        </p:txBody>
      </p:sp>
      <p:sp>
        <p:nvSpPr>
          <p:cNvPr id="27" name="Shape 22"/>
          <p:cNvSpPr/>
          <p:nvPr/>
        </p:nvSpPr>
        <p:spPr>
          <a:xfrm>
            <a:off x="4709160" y="3767328"/>
            <a:ext cx="128016" cy="128016"/>
          </a:xfrm>
          <a:prstGeom prst="ellipse">
            <a:avLst/>
          </a:prstGeom>
          <a:solidFill>
            <a:srgbClr val="A3491A"/>
          </a:solidFill>
          <a:ln w="12700">
            <a:solidFill>
              <a:srgbClr val="A3491A"/>
            </a:solidFill>
            <a:prstDash val="solid"/>
          </a:ln>
        </p:spPr>
      </p:sp>
      <p:sp>
        <p:nvSpPr>
          <p:cNvPr id="28" name="Text 23"/>
          <p:cNvSpPr/>
          <p:nvPr/>
        </p:nvSpPr>
        <p:spPr>
          <a:xfrm>
            <a:off x="4937760" y="3712464"/>
            <a:ext cx="3611880" cy="237744"/>
          </a:xfrm>
          <a:prstGeom prst="rect">
            <a:avLst/>
          </a:prstGeom>
          <a:noFill/>
          <a:ln/>
        </p:spPr>
        <p:txBody>
          <a:bodyPr wrap="square" lIns="0" tIns="0" rIns="0" bIns="0" rtlCol="0" anchor="ctr"/>
          <a:lstStyle/>
          <a:p>
            <a:pPr marL="0" indent="0">
              <a:buNone/>
            </a:pPr>
            <a:r>
              <a:rPr lang="en-US" sz="1000" b="1" dirty="0">
                <a:solidFill>
                  <a:srgbClr val="2C2C54"/>
                </a:solidFill>
                <a:latin typeface="Cambria" pitchFamily="34" charset="0"/>
                <a:ea typeface="Cambria" pitchFamily="34" charset="-122"/>
                <a:cs typeface="Cambria" pitchFamily="34" charset="-120"/>
              </a:rPr>
              <a:t>HDFC at 17.69% is comfortable and above regulatory minimums.</a:t>
            </a:r>
            <a:endParaRPr lang="en-US" sz="1000" dirty="0"/>
          </a:p>
        </p:txBody>
      </p:sp>
      <p:sp>
        <p:nvSpPr>
          <p:cNvPr id="29" name="Text 24"/>
          <p:cNvSpPr/>
          <p:nvPr/>
        </p:nvSpPr>
        <p:spPr>
          <a:xfrm>
            <a:off x="4937760" y="3977640"/>
            <a:ext cx="3611880" cy="566928"/>
          </a:xfrm>
          <a:prstGeom prst="rect">
            <a:avLst/>
          </a:prstGeom>
          <a:noFill/>
          <a:ln/>
        </p:spPr>
        <p:txBody>
          <a:bodyPr wrap="square" lIns="0" tIns="0" rIns="0" bIns="0" rtlCol="0" anchor="ctr"/>
          <a:lstStyle/>
          <a:p>
            <a:pPr marL="0" indent="0">
              <a:buNone/>
            </a:pPr>
            <a:r>
              <a:rPr lang="en-US" sz="900" dirty="0">
                <a:solidFill>
                  <a:srgbClr val="3D3D3D"/>
                </a:solidFill>
                <a:latin typeface="Arial" pitchFamily="34" charset="0"/>
                <a:ea typeface="Arial" pitchFamily="34" charset="-122"/>
                <a:cs typeface="Arial" pitchFamily="34" charset="-120"/>
              </a:rPr>
              <a:t>ICICI at 15.94% is the second lowest </a:t>
            </a:r>
            <a:r>
              <a:rPr lang="en-US" sz="900" dirty="0" smtClean="0">
                <a:solidFill>
                  <a:srgbClr val="3D3D3D"/>
                </a:solidFill>
                <a:latin typeface="Arial" pitchFamily="34" charset="0"/>
                <a:ea typeface="Arial" pitchFamily="34" charset="-122"/>
                <a:cs typeface="Arial" pitchFamily="34" charset="-120"/>
              </a:rPr>
              <a:t>- </a:t>
            </a:r>
            <a:r>
              <a:rPr lang="en-US" sz="900" dirty="0">
                <a:solidFill>
                  <a:srgbClr val="3D3D3D"/>
                </a:solidFill>
                <a:latin typeface="Arial" pitchFamily="34" charset="0"/>
                <a:ea typeface="Arial" pitchFamily="34" charset="-122"/>
                <a:cs typeface="Arial" pitchFamily="34" charset="-120"/>
              </a:rPr>
              <a:t>both HDFC and ICICI have more room to deploy capital than Kotak.</a:t>
            </a:r>
            <a:endParaRPr lang="en-US" sz="900" dirty="0"/>
          </a:p>
        </p:txBody>
      </p:sp>
      <p:sp>
        <p:nvSpPr>
          <p:cNvPr id="30" name="Text 25"/>
          <p:cNvSpPr/>
          <p:nvPr/>
        </p:nvSpPr>
        <p:spPr>
          <a:xfrm>
            <a:off x="365760" y="4873752"/>
            <a:ext cx="8412480" cy="182880"/>
          </a:xfrm>
          <a:prstGeom prst="rect">
            <a:avLst/>
          </a:prstGeom>
          <a:noFill/>
          <a:ln/>
        </p:spPr>
        <p:txBody>
          <a:bodyPr wrap="square" lIns="0" tIns="0" rIns="0" bIns="0" rtlCol="0" anchor="ctr"/>
          <a:lstStyle/>
          <a:p>
            <a:pPr marL="0" indent="0">
              <a:buNone/>
            </a:pPr>
            <a:r>
              <a:rPr lang="en-US" sz="750" dirty="0">
                <a:solidFill>
                  <a:srgbClr val="7A7A8A"/>
                </a:solidFill>
                <a:latin typeface="Arial" pitchFamily="34" charset="0"/>
                <a:ea typeface="Arial" pitchFamily="34" charset="-122"/>
                <a:cs typeface="Arial" pitchFamily="34" charset="-120"/>
              </a:rPr>
              <a:t>Data: FY2025 Annual Reports  ·  Akanksha Giri</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2C5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STRATEGIC PRIORITIES </a:t>
            </a:r>
            <a:r>
              <a:rPr lang="en-US" sz="2400" b="1" dirty="0" smtClean="0">
                <a:solidFill>
                  <a:srgbClr val="FFFFFF"/>
                </a:solidFill>
                <a:latin typeface="Cambria" pitchFamily="34" charset="0"/>
                <a:ea typeface="Cambria" pitchFamily="34" charset="-122"/>
                <a:cs typeface="Cambria" pitchFamily="34" charset="-120"/>
              </a:rPr>
              <a:t>- </a:t>
            </a:r>
            <a:r>
              <a:rPr lang="en-US" sz="2400" b="1" dirty="0" smtClean="0">
                <a:solidFill>
                  <a:srgbClr val="FFFFFF"/>
                </a:solidFill>
                <a:latin typeface="Cambria" pitchFamily="34" charset="0"/>
                <a:ea typeface="Cambria" pitchFamily="34" charset="-122"/>
                <a:cs typeface="Cambria" pitchFamily="34" charset="-120"/>
              </a:rPr>
              <a:t>FY2026</a:t>
            </a:r>
            <a:endParaRPr lang="en-US" sz="2400" dirty="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100" i="1" dirty="0">
                <a:solidFill>
                  <a:srgbClr val="C17D2C"/>
                </a:solidFill>
                <a:latin typeface="Arial" pitchFamily="34" charset="0"/>
                <a:ea typeface="Arial" pitchFamily="34" charset="-122"/>
                <a:cs typeface="Arial" pitchFamily="34" charset="-120"/>
              </a:rPr>
              <a:t>Where should HDFC Bank focus?</a:t>
            </a:r>
            <a:endParaRPr lang="en-US" sz="1100" dirty="0"/>
          </a:p>
        </p:txBody>
      </p:sp>
      <p:sp>
        <p:nvSpPr>
          <p:cNvPr id="4" name="Shape 2"/>
          <p:cNvSpPr/>
          <p:nvPr/>
        </p:nvSpPr>
        <p:spPr>
          <a:xfrm>
            <a:off x="347472" y="1261872"/>
            <a:ext cx="2697480" cy="3246120"/>
          </a:xfrm>
          <a:prstGeom prst="roundRect">
            <a:avLst>
              <a:gd name="adj" fmla="val 4068"/>
            </a:avLst>
          </a:prstGeom>
          <a:solidFill>
            <a:srgbClr val="EDE0CC"/>
          </a:solidFill>
          <a:ln w="12700">
            <a:solidFill>
              <a:srgbClr val="C17D2C"/>
            </a:solidFill>
            <a:prstDash val="solid"/>
          </a:ln>
        </p:spPr>
      </p:sp>
      <p:sp>
        <p:nvSpPr>
          <p:cNvPr id="5" name="Text 3"/>
          <p:cNvSpPr/>
          <p:nvPr/>
        </p:nvSpPr>
        <p:spPr>
          <a:xfrm>
            <a:off x="512064" y="1417320"/>
            <a:ext cx="594360" cy="502920"/>
          </a:xfrm>
          <a:prstGeom prst="rect">
            <a:avLst/>
          </a:prstGeom>
          <a:noFill/>
          <a:ln/>
        </p:spPr>
        <p:txBody>
          <a:bodyPr wrap="square" lIns="0" tIns="0" rIns="0" bIns="0" rtlCol="0" anchor="ctr"/>
          <a:lstStyle/>
          <a:p>
            <a:pPr marL="0" indent="0">
              <a:buNone/>
            </a:pPr>
            <a:r>
              <a:rPr lang="en-US" sz="2800" b="1" dirty="0">
                <a:solidFill>
                  <a:srgbClr val="A3491A"/>
                </a:solidFill>
                <a:latin typeface="Cambria" pitchFamily="34" charset="0"/>
                <a:ea typeface="Cambria" pitchFamily="34" charset="-122"/>
                <a:cs typeface="Cambria" pitchFamily="34" charset="-120"/>
              </a:rPr>
              <a:t>01</a:t>
            </a:r>
            <a:endParaRPr lang="en-US" sz="2800" dirty="0"/>
          </a:p>
        </p:txBody>
      </p:sp>
      <p:pic>
        <p:nvPicPr>
          <p:cNvPr id="6" name="Image 0" descr="preencoded.png"/>
          <p:cNvPicPr>
            <a:picLocks noChangeAspect="1"/>
          </p:cNvPicPr>
          <p:nvPr/>
        </p:nvPicPr>
        <p:blipFill>
          <a:blip r:embed="rId3"/>
          <a:stretch>
            <a:fillRect/>
          </a:stretch>
        </p:blipFill>
        <p:spPr>
          <a:xfrm>
            <a:off x="2267712" y="1417320"/>
            <a:ext cx="457200" cy="457200"/>
          </a:xfrm>
          <a:prstGeom prst="rect">
            <a:avLst/>
          </a:prstGeom>
        </p:spPr>
      </p:pic>
      <p:sp>
        <p:nvSpPr>
          <p:cNvPr id="7" name="Text 4"/>
          <p:cNvSpPr/>
          <p:nvPr/>
        </p:nvSpPr>
        <p:spPr>
          <a:xfrm>
            <a:off x="484632" y="1938528"/>
            <a:ext cx="2423160" cy="457200"/>
          </a:xfrm>
          <a:prstGeom prst="rect">
            <a:avLst/>
          </a:prstGeom>
          <a:noFill/>
          <a:ln/>
        </p:spPr>
        <p:txBody>
          <a:bodyPr wrap="square" lIns="0" tIns="0" rIns="0" bIns="0" rtlCol="0" anchor="ctr"/>
          <a:lstStyle/>
          <a:p>
            <a:pPr marL="0" indent="0">
              <a:buNone/>
            </a:pPr>
            <a:r>
              <a:rPr lang="en-US" sz="1200" b="1" dirty="0">
                <a:solidFill>
                  <a:srgbClr val="2C2C54"/>
                </a:solidFill>
                <a:latin typeface="Cambria" pitchFamily="34" charset="0"/>
                <a:ea typeface="Cambria" pitchFamily="34" charset="-122"/>
                <a:cs typeface="Cambria" pitchFamily="34" charset="-120"/>
              </a:rPr>
              <a:t>Improve CASA Ratio</a:t>
            </a:r>
            <a:endParaRPr lang="en-US" sz="1200" dirty="0"/>
          </a:p>
        </p:txBody>
      </p:sp>
      <p:sp>
        <p:nvSpPr>
          <p:cNvPr id="8" name="Text 5"/>
          <p:cNvSpPr/>
          <p:nvPr/>
        </p:nvSpPr>
        <p:spPr>
          <a:xfrm>
            <a:off x="484632" y="2423160"/>
            <a:ext cx="2423160" cy="1920240"/>
          </a:xfrm>
          <a:prstGeom prst="rect">
            <a:avLst/>
          </a:prstGeom>
          <a:noFill/>
          <a:ln/>
        </p:spPr>
        <p:txBody>
          <a:bodyPr wrap="square" lIns="0" tIns="0" rIns="0" bIns="0" rtlCol="0" anchor="ctr"/>
          <a:lstStyle/>
          <a:p>
            <a:pPr marL="0" indent="0">
              <a:buNone/>
            </a:pPr>
            <a:r>
              <a:rPr lang="en-US" sz="950" dirty="0">
                <a:solidFill>
                  <a:srgbClr val="3D3D3D"/>
                </a:solidFill>
                <a:latin typeface="Arial" pitchFamily="34" charset="0"/>
                <a:ea typeface="Arial" pitchFamily="34" charset="-122"/>
                <a:cs typeface="Arial" pitchFamily="34" charset="-120"/>
              </a:rPr>
              <a:t>At 34.80%, HDFC's low-cost deposit base is the weakest in the group. Closing the gap with Kotak (43.34%) would meaningfully reduce funding costs and support margins.</a:t>
            </a:r>
            <a:endParaRPr lang="en-US" sz="950" dirty="0"/>
          </a:p>
        </p:txBody>
      </p:sp>
      <p:sp>
        <p:nvSpPr>
          <p:cNvPr id="9" name="Shape 6"/>
          <p:cNvSpPr/>
          <p:nvPr/>
        </p:nvSpPr>
        <p:spPr>
          <a:xfrm>
            <a:off x="3200400" y="1261872"/>
            <a:ext cx="2697480" cy="3246120"/>
          </a:xfrm>
          <a:prstGeom prst="roundRect">
            <a:avLst>
              <a:gd name="adj" fmla="val 4068"/>
            </a:avLst>
          </a:prstGeom>
          <a:solidFill>
            <a:srgbClr val="EDE0CC"/>
          </a:solidFill>
          <a:ln w="12700">
            <a:solidFill>
              <a:srgbClr val="C17D2C"/>
            </a:solidFill>
            <a:prstDash val="solid"/>
          </a:ln>
        </p:spPr>
      </p:sp>
      <p:sp>
        <p:nvSpPr>
          <p:cNvPr id="10" name="Text 7"/>
          <p:cNvSpPr/>
          <p:nvPr/>
        </p:nvSpPr>
        <p:spPr>
          <a:xfrm>
            <a:off x="3364992" y="1417320"/>
            <a:ext cx="594360" cy="502920"/>
          </a:xfrm>
          <a:prstGeom prst="rect">
            <a:avLst/>
          </a:prstGeom>
          <a:noFill/>
          <a:ln/>
        </p:spPr>
        <p:txBody>
          <a:bodyPr wrap="square" lIns="0" tIns="0" rIns="0" bIns="0" rtlCol="0" anchor="ctr"/>
          <a:lstStyle/>
          <a:p>
            <a:pPr marL="0" indent="0">
              <a:buNone/>
            </a:pPr>
            <a:r>
              <a:rPr lang="en-US" sz="2800" b="1" dirty="0">
                <a:solidFill>
                  <a:srgbClr val="A3491A"/>
                </a:solidFill>
                <a:latin typeface="Cambria" pitchFamily="34" charset="0"/>
                <a:ea typeface="Cambria" pitchFamily="34" charset="-122"/>
                <a:cs typeface="Cambria" pitchFamily="34" charset="-120"/>
              </a:rPr>
              <a:t>02</a:t>
            </a:r>
            <a:endParaRPr lang="en-US" sz="2800" dirty="0"/>
          </a:p>
        </p:txBody>
      </p:sp>
      <p:pic>
        <p:nvPicPr>
          <p:cNvPr id="11" name="Image 1" descr="preencoded.png"/>
          <p:cNvPicPr>
            <a:picLocks noChangeAspect="1"/>
          </p:cNvPicPr>
          <p:nvPr/>
        </p:nvPicPr>
        <p:blipFill>
          <a:blip r:embed="rId4"/>
          <a:stretch>
            <a:fillRect/>
          </a:stretch>
        </p:blipFill>
        <p:spPr>
          <a:xfrm>
            <a:off x="5120640" y="1417320"/>
            <a:ext cx="457200" cy="457200"/>
          </a:xfrm>
          <a:prstGeom prst="rect">
            <a:avLst/>
          </a:prstGeom>
        </p:spPr>
      </p:pic>
      <p:sp>
        <p:nvSpPr>
          <p:cNvPr id="12" name="Text 8"/>
          <p:cNvSpPr/>
          <p:nvPr/>
        </p:nvSpPr>
        <p:spPr>
          <a:xfrm>
            <a:off x="3337560" y="1938528"/>
            <a:ext cx="2423160" cy="457200"/>
          </a:xfrm>
          <a:prstGeom prst="rect">
            <a:avLst/>
          </a:prstGeom>
          <a:noFill/>
          <a:ln/>
        </p:spPr>
        <p:txBody>
          <a:bodyPr wrap="square" lIns="0" tIns="0" rIns="0" bIns="0" rtlCol="0" anchor="ctr"/>
          <a:lstStyle/>
          <a:p>
            <a:pPr marL="0" indent="0">
              <a:buNone/>
            </a:pPr>
            <a:r>
              <a:rPr lang="en-US" sz="1200" b="1" dirty="0">
                <a:solidFill>
                  <a:srgbClr val="2C2C54"/>
                </a:solidFill>
                <a:latin typeface="Cambria" pitchFamily="34" charset="0"/>
                <a:ea typeface="Cambria" pitchFamily="34" charset="-122"/>
                <a:cs typeface="Cambria" pitchFamily="34" charset="-120"/>
              </a:rPr>
              <a:t>Match ICICI on Efficiency</a:t>
            </a:r>
            <a:endParaRPr lang="en-US" sz="1200" dirty="0"/>
          </a:p>
        </p:txBody>
      </p:sp>
      <p:sp>
        <p:nvSpPr>
          <p:cNvPr id="13" name="Text 9"/>
          <p:cNvSpPr/>
          <p:nvPr/>
        </p:nvSpPr>
        <p:spPr>
          <a:xfrm>
            <a:off x="3337560" y="2423160"/>
            <a:ext cx="2423160" cy="1920240"/>
          </a:xfrm>
          <a:prstGeom prst="rect">
            <a:avLst/>
          </a:prstGeom>
          <a:noFill/>
          <a:ln/>
        </p:spPr>
        <p:txBody>
          <a:bodyPr wrap="square" lIns="0" tIns="0" rIns="0" bIns="0" rtlCol="0" anchor="ctr"/>
          <a:lstStyle/>
          <a:p>
            <a:pPr marL="0" indent="0">
              <a:buNone/>
            </a:pPr>
            <a:r>
              <a:rPr lang="en-US" sz="950" dirty="0">
                <a:solidFill>
                  <a:srgbClr val="3D3D3D"/>
                </a:solidFill>
                <a:latin typeface="Arial" pitchFamily="34" charset="0"/>
                <a:ea typeface="Arial" pitchFamily="34" charset="-122"/>
                <a:cs typeface="Arial" pitchFamily="34" charset="-120"/>
              </a:rPr>
              <a:t>A ~180bps CIR gap separates HDFC (40.51%) from ICICI (38.64%). Narrowing this through branch productivity and process automation is the fastest route to higher returns.</a:t>
            </a:r>
            <a:endParaRPr lang="en-US" sz="950" dirty="0"/>
          </a:p>
        </p:txBody>
      </p:sp>
      <p:sp>
        <p:nvSpPr>
          <p:cNvPr id="14" name="Shape 10"/>
          <p:cNvSpPr/>
          <p:nvPr/>
        </p:nvSpPr>
        <p:spPr>
          <a:xfrm>
            <a:off x="6053328" y="1261872"/>
            <a:ext cx="2697480" cy="3246120"/>
          </a:xfrm>
          <a:prstGeom prst="roundRect">
            <a:avLst>
              <a:gd name="adj" fmla="val 4068"/>
            </a:avLst>
          </a:prstGeom>
          <a:solidFill>
            <a:srgbClr val="EDE0CC"/>
          </a:solidFill>
          <a:ln w="12700">
            <a:solidFill>
              <a:srgbClr val="C17D2C"/>
            </a:solidFill>
            <a:prstDash val="solid"/>
          </a:ln>
        </p:spPr>
      </p:sp>
      <p:sp>
        <p:nvSpPr>
          <p:cNvPr id="15" name="Text 11"/>
          <p:cNvSpPr/>
          <p:nvPr/>
        </p:nvSpPr>
        <p:spPr>
          <a:xfrm>
            <a:off x="6217920" y="1417320"/>
            <a:ext cx="594360" cy="502920"/>
          </a:xfrm>
          <a:prstGeom prst="rect">
            <a:avLst/>
          </a:prstGeom>
          <a:noFill/>
          <a:ln/>
        </p:spPr>
        <p:txBody>
          <a:bodyPr wrap="square" lIns="0" tIns="0" rIns="0" bIns="0" rtlCol="0" anchor="ctr"/>
          <a:lstStyle/>
          <a:p>
            <a:pPr marL="0" indent="0">
              <a:buNone/>
            </a:pPr>
            <a:r>
              <a:rPr lang="en-US" sz="2800" b="1" dirty="0">
                <a:solidFill>
                  <a:srgbClr val="A3491A"/>
                </a:solidFill>
                <a:latin typeface="Cambria" pitchFamily="34" charset="0"/>
                <a:ea typeface="Cambria" pitchFamily="34" charset="-122"/>
                <a:cs typeface="Cambria" pitchFamily="34" charset="-120"/>
              </a:rPr>
              <a:t>03</a:t>
            </a:r>
            <a:endParaRPr lang="en-US" sz="2800" dirty="0"/>
          </a:p>
        </p:txBody>
      </p:sp>
      <p:pic>
        <p:nvPicPr>
          <p:cNvPr id="16" name="Image 2" descr="preencoded.png"/>
          <p:cNvPicPr>
            <a:picLocks noChangeAspect="1"/>
          </p:cNvPicPr>
          <p:nvPr/>
        </p:nvPicPr>
        <p:blipFill>
          <a:blip r:embed="rId5"/>
          <a:stretch>
            <a:fillRect/>
          </a:stretch>
        </p:blipFill>
        <p:spPr>
          <a:xfrm>
            <a:off x="7973568" y="1417320"/>
            <a:ext cx="457200" cy="457200"/>
          </a:xfrm>
          <a:prstGeom prst="rect">
            <a:avLst/>
          </a:prstGeom>
        </p:spPr>
      </p:pic>
      <p:sp>
        <p:nvSpPr>
          <p:cNvPr id="17" name="Text 12"/>
          <p:cNvSpPr/>
          <p:nvPr/>
        </p:nvSpPr>
        <p:spPr>
          <a:xfrm>
            <a:off x="6190488" y="1938528"/>
            <a:ext cx="2423160" cy="457200"/>
          </a:xfrm>
          <a:prstGeom prst="rect">
            <a:avLst/>
          </a:prstGeom>
          <a:noFill/>
          <a:ln/>
        </p:spPr>
        <p:txBody>
          <a:bodyPr wrap="square" lIns="0" tIns="0" rIns="0" bIns="0" rtlCol="0" anchor="ctr"/>
          <a:lstStyle/>
          <a:p>
            <a:pPr marL="0" indent="0">
              <a:buNone/>
            </a:pPr>
            <a:r>
              <a:rPr lang="en-US" sz="1200" b="1" dirty="0">
                <a:solidFill>
                  <a:srgbClr val="2C2C54"/>
                </a:solidFill>
                <a:latin typeface="Cambria" pitchFamily="34" charset="0"/>
                <a:ea typeface="Cambria" pitchFamily="34" charset="-122"/>
                <a:cs typeface="Cambria" pitchFamily="34" charset="-120"/>
              </a:rPr>
              <a:t>Close the RoE Gap</a:t>
            </a:r>
            <a:endParaRPr lang="en-US" sz="1200" dirty="0"/>
          </a:p>
        </p:txBody>
      </p:sp>
      <p:sp>
        <p:nvSpPr>
          <p:cNvPr id="18" name="Text 13"/>
          <p:cNvSpPr/>
          <p:nvPr/>
        </p:nvSpPr>
        <p:spPr>
          <a:xfrm>
            <a:off x="6190488" y="2423160"/>
            <a:ext cx="2423160" cy="1920240"/>
          </a:xfrm>
          <a:prstGeom prst="rect">
            <a:avLst/>
          </a:prstGeom>
          <a:noFill/>
          <a:ln/>
        </p:spPr>
        <p:txBody>
          <a:bodyPr wrap="square" lIns="0" tIns="0" rIns="0" bIns="0" rtlCol="0" anchor="ctr"/>
          <a:lstStyle/>
          <a:p>
            <a:pPr marL="0" indent="0">
              <a:buNone/>
            </a:pPr>
            <a:r>
              <a:rPr lang="en-US" sz="950" dirty="0">
                <a:solidFill>
                  <a:srgbClr val="3D3D3D"/>
                </a:solidFill>
                <a:latin typeface="Arial" pitchFamily="34" charset="0"/>
                <a:ea typeface="Arial" pitchFamily="34" charset="-122"/>
                <a:cs typeface="Arial" pitchFamily="34" charset="-120"/>
              </a:rPr>
              <a:t>ICICI's RoE of 16.17% vs HDFC's 13.43% reflects capital deployment quality, not balance sheet size. HDFC needs leaner capital recycling, not more assets.</a:t>
            </a:r>
            <a:endParaRPr lang="en-US" sz="950" dirty="0"/>
          </a:p>
        </p:txBody>
      </p:sp>
      <p:sp>
        <p:nvSpPr>
          <p:cNvPr id="19" name="Shape 14"/>
          <p:cNvSpPr/>
          <p:nvPr/>
        </p:nvSpPr>
        <p:spPr>
          <a:xfrm>
            <a:off x="347472" y="4645152"/>
            <a:ext cx="8449056" cy="384048"/>
          </a:xfrm>
          <a:prstGeom prst="roundRect">
            <a:avLst>
              <a:gd name="adj" fmla="val 16667"/>
            </a:avLst>
          </a:prstGeom>
          <a:solidFill>
            <a:srgbClr val="A3491A">
              <a:alpha val="85000"/>
            </a:srgbClr>
          </a:solidFill>
          <a:ln w="12700">
            <a:solidFill>
              <a:srgbClr val="A3491A"/>
            </a:solidFill>
            <a:prstDash val="solid"/>
          </a:ln>
        </p:spPr>
      </p:sp>
      <p:sp>
        <p:nvSpPr>
          <p:cNvPr id="20" name="Text 15"/>
          <p:cNvSpPr/>
          <p:nvPr/>
        </p:nvSpPr>
        <p:spPr>
          <a:xfrm>
            <a:off x="502920" y="4645152"/>
            <a:ext cx="8229600" cy="384048"/>
          </a:xfrm>
          <a:prstGeom prst="rect">
            <a:avLst/>
          </a:prstGeom>
          <a:noFill/>
          <a:ln/>
        </p:spPr>
        <p:txBody>
          <a:bodyPr wrap="square" lIns="0" tIns="0" rIns="0" bIns="0" rtlCol="0" anchor="ctr"/>
          <a:lstStyle/>
          <a:p>
            <a:pPr marL="0" indent="0">
              <a:buNone/>
            </a:pPr>
            <a:r>
              <a:rPr lang="en-US" sz="900" b="1" dirty="0">
                <a:solidFill>
                  <a:srgbClr val="C17D2C"/>
                </a:solidFill>
                <a:latin typeface="Arial" pitchFamily="34" charset="0"/>
                <a:ea typeface="Arial" pitchFamily="34" charset="-122"/>
                <a:cs typeface="Arial" pitchFamily="34" charset="-120"/>
              </a:rPr>
              <a:t>BOTTOM LINE:  </a:t>
            </a:r>
            <a:r>
              <a:rPr lang="en-US" sz="900" dirty="0">
                <a:solidFill>
                  <a:srgbClr val="FFFFFF"/>
                </a:solidFill>
                <a:latin typeface="Arial" pitchFamily="34" charset="0"/>
                <a:ea typeface="Arial" pitchFamily="34" charset="-122"/>
                <a:cs typeface="Arial" pitchFamily="34" charset="-120"/>
              </a:rPr>
              <a:t>No single bank dominates all five areas. Kotak leads profitability and capital. ICICI leads efficiency. HDFC's edge is asset quality and scale </a:t>
            </a:r>
            <a:r>
              <a:rPr lang="en-US" sz="900" dirty="0" smtClean="0">
                <a:solidFill>
                  <a:srgbClr val="FFFFFF"/>
                </a:solidFill>
                <a:latin typeface="Arial" pitchFamily="34" charset="0"/>
                <a:ea typeface="Arial" pitchFamily="34" charset="-122"/>
                <a:cs typeface="Arial" pitchFamily="34" charset="-120"/>
              </a:rPr>
              <a:t>- </a:t>
            </a:r>
            <a:r>
              <a:rPr lang="en-US" sz="900" dirty="0">
                <a:solidFill>
                  <a:srgbClr val="FFFFFF"/>
                </a:solidFill>
                <a:latin typeface="Arial" pitchFamily="34" charset="0"/>
                <a:ea typeface="Arial" pitchFamily="34" charset="-122"/>
                <a:cs typeface="Arial" pitchFamily="34" charset="-120"/>
              </a:rPr>
              <a:t>but CASA and RoE need attention heading into FY2026.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903</Words>
  <Application>Microsoft Office PowerPoint</Application>
  <PresentationFormat>On-screen Show (16:9)</PresentationFormat>
  <Paragraphs>143</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HDFC Bank – Peer Benchmarking FY2025</dc:title>
  <dc:subject>PptxGenJS Presentation</dc:subject>
  <dc:creator>Akanksha Giri</dc:creator>
  <cp:lastModifiedBy>Akanksha Giri</cp:lastModifiedBy>
  <cp:revision>2</cp:revision>
  <dcterms:created xsi:type="dcterms:W3CDTF">2026-06-27T15:28:09Z</dcterms:created>
  <dcterms:modified xsi:type="dcterms:W3CDTF">2026-06-27T15:33:43Z</dcterms:modified>
</cp:coreProperties>
</file>